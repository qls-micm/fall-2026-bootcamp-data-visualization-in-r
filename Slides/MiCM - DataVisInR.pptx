
<file path=[Content_Types].xml><?xml version="1.0" encoding="utf-8"?>
<Types xmlns="http://schemas.openxmlformats.org/package/2006/content-types">
  <Default Extension="gif" ContentType="image/gif"/>
  <Default Extension="jpeg" ContentType="image/jpeg"/>
  <Default Extension="KbcpyzKh9CHfrx-9l-oigd7yqKEowaZOqU52vFbQWxw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0"/>
  </p:notesMasterIdLst>
  <p:sldIdLst>
    <p:sldId id="263" r:id="rId2"/>
    <p:sldId id="262" r:id="rId3"/>
    <p:sldId id="353" r:id="rId4"/>
    <p:sldId id="371" r:id="rId5"/>
    <p:sldId id="259" r:id="rId6"/>
    <p:sldId id="372" r:id="rId7"/>
    <p:sldId id="373" r:id="rId8"/>
    <p:sldId id="374" r:id="rId9"/>
    <p:sldId id="375" r:id="rId10"/>
    <p:sldId id="376" r:id="rId11"/>
    <p:sldId id="377" r:id="rId12"/>
    <p:sldId id="378" r:id="rId13"/>
    <p:sldId id="307" r:id="rId14"/>
    <p:sldId id="308" r:id="rId15"/>
    <p:sldId id="309" r:id="rId16"/>
    <p:sldId id="379" r:id="rId17"/>
    <p:sldId id="310" r:id="rId18"/>
    <p:sldId id="304" r:id="rId19"/>
    <p:sldId id="380" r:id="rId20"/>
    <p:sldId id="381" r:id="rId21"/>
    <p:sldId id="382" r:id="rId22"/>
    <p:sldId id="383" r:id="rId23"/>
    <p:sldId id="384" r:id="rId24"/>
    <p:sldId id="267" r:id="rId25"/>
    <p:sldId id="385" r:id="rId26"/>
    <p:sldId id="386" r:id="rId27"/>
    <p:sldId id="268" r:id="rId28"/>
    <p:sldId id="387" r:id="rId29"/>
    <p:sldId id="276" r:id="rId30"/>
    <p:sldId id="277" r:id="rId31"/>
    <p:sldId id="305" r:id="rId32"/>
    <p:sldId id="388" r:id="rId33"/>
    <p:sldId id="272" r:id="rId34"/>
    <p:sldId id="273" r:id="rId35"/>
    <p:sldId id="280" r:id="rId36"/>
    <p:sldId id="275" r:id="rId37"/>
    <p:sldId id="278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3" r:id="rId49"/>
    <p:sldId id="389" r:id="rId50"/>
    <p:sldId id="390" r:id="rId51"/>
    <p:sldId id="391" r:id="rId52"/>
    <p:sldId id="392" r:id="rId53"/>
    <p:sldId id="291" r:id="rId54"/>
    <p:sldId id="393" r:id="rId55"/>
    <p:sldId id="395" r:id="rId56"/>
    <p:sldId id="306" r:id="rId57"/>
    <p:sldId id="270" r:id="rId58"/>
    <p:sldId id="370" r:id="rId59"/>
  </p:sldIdLst>
  <p:sldSz cx="9144000" cy="6858000" type="screen4x3"/>
  <p:notesSz cx="6858000" cy="9144000"/>
  <p:defaultTextStyle>
    <a:defPPr>
      <a:defRPr lang="fr-FR"/>
    </a:defPPr>
    <a:lvl1pPr marL="0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1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22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341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45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56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679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199794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6907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99"/>
    <a:srgbClr val="FFFFCC"/>
    <a:srgbClr val="69B0A0"/>
    <a:srgbClr val="72B0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4028EF-C06B-42AB-8ACF-CD111B3C401F}" v="9" dt="2026-10-14T17:49:05.0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3658" autoAdjust="0"/>
  </p:normalViewPr>
  <p:slideViewPr>
    <p:cSldViewPr snapToGrid="0" snapToObjects="1">
      <p:cViewPr varScale="1">
        <p:scale>
          <a:sx n="48" d="100"/>
          <a:sy n="48" d="100"/>
        </p:scale>
        <p:origin x="576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E5156-1B5D-054E-B5B2-E1B1BA160252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CBD60B-517C-4242-AE46-E1BD2D08654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7014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94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884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82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76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70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647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59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53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en-CA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dirty="0"/>
              <a:t>The McGill initiative on Computational Medicine was formed in 2017 and aims to deliver inter-disciplinary research programs and empower the use of data in health research and health care delivery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dirty="0"/>
              <a:t>Located at the Genome Center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dirty="0"/>
              <a:t>They have a newsletter were you can subscribe to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dirty="0"/>
              <a:t>more info on the web site</a:t>
            </a:r>
          </a:p>
          <a:p>
            <a:endParaRPr lang="en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0063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74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7412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3268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549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8706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0472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151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933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200" dirty="0"/>
              <a:t>What do the error bars represent? How many samples are behind each point? Could one unusual sample be driving a mean?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007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look more informative than the error bars but each one summarizes only **3 values**. A boxplot of 3 values is just the minimum, median, and maximum drawn as a box. The violin's smooth shape is invented by smoothing rather than shown by the data. Neither tells a viewer that n =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703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1194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D801F-511A-9923-19A0-50011E616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87CDAC-AE30-58A0-126E-AEAA8B5916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3A0F83-C6E6-8D0B-E1B4-C31D113D7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only 3 points per group, the violin plot is shapes that aren't necessarily reflecting the data. With small sample sizes, using a technique that shows the raw points is the best. Let's try something else.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4C74AB-FB98-234C-0C4E-5384366F96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8995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41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8258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7A653-6AB4-68B7-BF9C-725AD60AF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449F35-1E87-73C8-D1A1-A893D5C6F3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9B3436-CCFB-F4FF-15C6-DF96ADAFC6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DBA281-B327-A3A0-62AB-12B3B6779A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9359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2966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0707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3983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92B5E-0392-2B0A-6602-570C381C0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0BC616-AB86-8B54-28D1-3D8F1E4A88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BBCCA5-BFB6-BD22-5F25-D7E8D22DA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EFB62-A2C3-B75E-D135-AEB68BCF6F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3300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7556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0057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6440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3469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9215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5732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7009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5730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0373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85021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4230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9381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66698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1229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7463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0682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4163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58339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09475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1484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24179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60809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66950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02820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37441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algn="just">
              <a:lnSpc>
                <a:spcPct val="115000"/>
              </a:lnSpc>
              <a:spcAft>
                <a:spcPts val="800"/>
              </a:spcAft>
            </a:pPr>
            <a:endParaRPr lang="en-US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10074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algn="just">
              <a:lnSpc>
                <a:spcPct val="115000"/>
              </a:lnSpc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74799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2250"/>
              </a:spcBef>
              <a:spcAft>
                <a:spcPts val="2250"/>
              </a:spcAft>
            </a:pPr>
            <a:endParaRPr lang="en-US" b="0" i="0" dirty="0">
              <a:solidFill>
                <a:srgbClr val="6081A2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1081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77395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0028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algn="just">
              <a:lnSpc>
                <a:spcPct val="115000"/>
              </a:lnSpc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4100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D814C-577F-C637-A5FC-254A5FEA8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DEA4A1-9C77-2E9D-B3CE-85FEB0D9BC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84B853-2758-7711-E34C-B59EF1174D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1092F-9E2E-C58D-E356-B18E4150CD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01017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36920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AFB2F-D963-4F42-B0BC-75F455401A94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986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38C73947-7933-1149-81E2-2A6481ACE834}"/>
              </a:ext>
            </a:extLst>
          </p:cNvPr>
          <p:cNvSpPr txBox="1">
            <a:spLocks/>
          </p:cNvSpPr>
          <p:nvPr userDrawn="1"/>
        </p:nvSpPr>
        <p:spPr>
          <a:xfrm>
            <a:off x="594015" y="1617135"/>
            <a:ext cx="7804150" cy="4863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CA" sz="2002" b="1" u="sng" dirty="0">
                <a:latin typeface="+mj-lt"/>
              </a:rPr>
              <a:t>Mission</a:t>
            </a:r>
            <a:r>
              <a:rPr lang="en-CA" sz="2002" dirty="0">
                <a:latin typeface="+mj-lt"/>
              </a:rPr>
              <a:t> : aims to deliver inter-disciplinary research programs and empower the use of data in health research and health care delivery</a:t>
            </a: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r>
              <a:rPr lang="en-CA" sz="1800" dirty="0">
                <a:latin typeface="+mj-lt"/>
              </a:rPr>
              <a:t>https://www.mcgill.ca/</a:t>
            </a:r>
            <a:r>
              <a:rPr lang="en-CA" sz="1800" dirty="0" err="1">
                <a:latin typeface="+mj-lt"/>
              </a:rPr>
              <a:t>micm</a:t>
            </a:r>
            <a:endParaRPr lang="en-CA" sz="1800" dirty="0">
              <a:latin typeface="+mj-lt"/>
            </a:endParaRPr>
          </a:p>
          <a:p>
            <a:endParaRPr lang="en-CA" sz="2002" dirty="0">
              <a:latin typeface="+mj-lt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E31CC8AE-4D70-174F-9C92-FBBC12BFB7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66642" y="2463795"/>
            <a:ext cx="4431523" cy="352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8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86"/>
            <a:ext cx="4197350" cy="1012958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469381-9221-664C-A297-50EE4CAEE0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454228"/>
            <a:ext cx="8658743" cy="4924350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694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2401445-DB0B-D44D-B605-7A88A3BC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706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829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71"/>
            <a:ext cx="7886700" cy="15001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088" indent="0">
              <a:buNone/>
              <a:defRPr sz="2002">
                <a:solidFill>
                  <a:schemeClr val="tx1">
                    <a:tint val="75000"/>
                  </a:schemeClr>
                </a:solidFill>
              </a:defRPr>
            </a:lvl2pPr>
            <a:lvl3pPr marL="91417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25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4pPr>
            <a:lvl5pPr marL="1828343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5pPr>
            <a:lvl6pPr marL="2285430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6pPr>
            <a:lvl7pPr marL="274251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7pPr>
            <a:lvl8pPr marL="319959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8pPr>
            <a:lvl9pPr marL="365668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720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7"/>
            <a:ext cx="3886200" cy="4351335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7"/>
            <a:ext cx="3886200" cy="4351335"/>
          </a:xfrm>
        </p:spPr>
        <p:txBody>
          <a:bodyPr/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908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175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0274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1"/>
            <a:ext cx="4629150" cy="4873628"/>
          </a:xfrm>
        </p:spPr>
        <p:txBody>
          <a:bodyPr anchor="t"/>
          <a:lstStyle>
            <a:lvl1pPr marL="0" indent="0">
              <a:buNone/>
              <a:defRPr sz="3202"/>
            </a:lvl1pPr>
            <a:lvl2pPr marL="457088" indent="0">
              <a:buNone/>
              <a:defRPr sz="2798"/>
            </a:lvl2pPr>
            <a:lvl3pPr marL="914175" indent="0">
              <a:buNone/>
              <a:defRPr sz="2400"/>
            </a:lvl3pPr>
            <a:lvl4pPr marL="1371255" indent="0">
              <a:buNone/>
              <a:defRPr sz="2002"/>
            </a:lvl4pPr>
            <a:lvl5pPr marL="1828343" indent="0">
              <a:buNone/>
              <a:defRPr sz="2002"/>
            </a:lvl5pPr>
            <a:lvl6pPr marL="2285430" indent="0">
              <a:buNone/>
              <a:defRPr sz="2002"/>
            </a:lvl6pPr>
            <a:lvl7pPr marL="2742518" indent="0">
              <a:buNone/>
              <a:defRPr sz="2002"/>
            </a:lvl7pPr>
            <a:lvl8pPr marL="3199598" indent="0">
              <a:buNone/>
              <a:defRPr sz="2002"/>
            </a:lvl8pPr>
            <a:lvl9pPr marL="3656685" indent="0">
              <a:buNone/>
              <a:defRPr sz="2002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90"/>
          </a:xfrm>
        </p:spPr>
        <p:txBody>
          <a:bodyPr/>
          <a:lstStyle>
            <a:lvl1pPr marL="0" indent="0">
              <a:buNone/>
              <a:defRPr sz="1598"/>
            </a:lvl1pPr>
            <a:lvl2pPr marL="457088" indent="0">
              <a:buNone/>
              <a:defRPr sz="1403"/>
            </a:lvl2pPr>
            <a:lvl3pPr marL="914175" indent="0">
              <a:buNone/>
              <a:defRPr sz="1200"/>
            </a:lvl3pPr>
            <a:lvl4pPr marL="1371255" indent="0">
              <a:buNone/>
              <a:defRPr sz="998"/>
            </a:lvl4pPr>
            <a:lvl5pPr marL="1828343" indent="0">
              <a:buNone/>
              <a:defRPr sz="998"/>
            </a:lvl5pPr>
            <a:lvl6pPr marL="2285430" indent="0">
              <a:buNone/>
              <a:defRPr sz="998"/>
            </a:lvl6pPr>
            <a:lvl7pPr marL="2742518" indent="0">
              <a:buNone/>
              <a:defRPr sz="998"/>
            </a:lvl7pPr>
            <a:lvl8pPr marL="3199598" indent="0">
              <a:buNone/>
              <a:defRPr sz="998"/>
            </a:lvl8pPr>
            <a:lvl9pPr marL="3656685" indent="0">
              <a:buNone/>
              <a:defRPr sz="998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933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7"/>
            <a:ext cx="7886700" cy="4351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grpSp>
        <p:nvGrpSpPr>
          <p:cNvPr id="14" name="Group 11">
            <a:extLst>
              <a:ext uri="{FF2B5EF4-FFF2-40B4-BE49-F238E27FC236}">
                <a16:creationId xmlns:a16="http://schemas.microsoft.com/office/drawing/2014/main" id="{8ADF8589-063A-1546-8085-07B315CCB28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2150" y="6790459"/>
            <a:ext cx="9200548" cy="90488"/>
            <a:chOff x="606161" y="2106824"/>
            <a:chExt cx="6205940" cy="124118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D4AE55-E3E4-8E48-A531-035261AD147D}"/>
                </a:ext>
              </a:extLst>
            </p:cNvPr>
            <p:cNvSpPr/>
            <p:nvPr userDrawn="1"/>
          </p:nvSpPr>
          <p:spPr>
            <a:xfrm>
              <a:off x="606161" y="2106824"/>
              <a:ext cx="1241028" cy="12411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753BF61-1322-C642-81B1-2BEA6A9D7516}"/>
                </a:ext>
              </a:extLst>
            </p:cNvPr>
            <p:cNvSpPr/>
            <p:nvPr userDrawn="1"/>
          </p:nvSpPr>
          <p:spPr>
            <a:xfrm>
              <a:off x="1847189" y="2106824"/>
              <a:ext cx="1241429" cy="12411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05D8262-7348-B74A-B1E5-C429BF3920A3}"/>
                </a:ext>
              </a:extLst>
            </p:cNvPr>
            <p:cNvSpPr/>
            <p:nvPr userDrawn="1"/>
          </p:nvSpPr>
          <p:spPr>
            <a:xfrm>
              <a:off x="3088617" y="2106824"/>
              <a:ext cx="1241027" cy="12411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E6F6EB-C764-0142-9907-8F053728961D}"/>
                </a:ext>
              </a:extLst>
            </p:cNvPr>
            <p:cNvSpPr/>
            <p:nvPr userDrawn="1"/>
          </p:nvSpPr>
          <p:spPr>
            <a:xfrm>
              <a:off x="4329645" y="2106824"/>
              <a:ext cx="1241429" cy="12411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4EFFE0-7781-6F4A-8329-190CB533253E}"/>
                </a:ext>
              </a:extLst>
            </p:cNvPr>
            <p:cNvSpPr/>
            <p:nvPr userDrawn="1"/>
          </p:nvSpPr>
          <p:spPr>
            <a:xfrm>
              <a:off x="5571073" y="2106824"/>
              <a:ext cx="1241028" cy="12411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</p:grpSp>
      <p:pic>
        <p:nvPicPr>
          <p:cNvPr id="21" name="Image 20">
            <a:extLst>
              <a:ext uri="{FF2B5EF4-FFF2-40B4-BE49-F238E27FC236}">
                <a16:creationId xmlns:a16="http://schemas.microsoft.com/office/drawing/2014/main" id="{BBA76F50-A55F-9245-A363-154E7DFB1C4B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7384992" y="6411199"/>
            <a:ext cx="1759009" cy="42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374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71" r:id="rId3"/>
    <p:sldLayoutId id="2147483662" r:id="rId4"/>
    <p:sldLayoutId id="2147483663" r:id="rId5"/>
    <p:sldLayoutId id="2147483664" r:id="rId6"/>
    <p:sldLayoutId id="2147483666" r:id="rId7"/>
    <p:sldLayoutId id="2147483667" r:id="rId8"/>
    <p:sldLayoutId id="2147483669" r:id="rId9"/>
  </p:sldLayoutIdLst>
  <p:txStyles>
    <p:titleStyle>
      <a:lvl1pPr algn="l" defTabSz="914175" rtl="0" eaLnBrk="1" latinLnBrk="0" hangingPunct="1">
        <a:lnSpc>
          <a:spcPct val="90000"/>
        </a:lnSpc>
        <a:spcBef>
          <a:spcPct val="0"/>
        </a:spcBef>
        <a:buNone/>
        <a:defRPr sz="44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0" indent="-228540" algn="l" defTabSz="914175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62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1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002" kern="1200">
          <a:solidFill>
            <a:schemeClr val="tx1"/>
          </a:solidFill>
          <a:latin typeface="+mn-lt"/>
          <a:ea typeface="+mn-ea"/>
          <a:cs typeface="+mn-cs"/>
        </a:defRPr>
      </a:lvl3pPr>
      <a:lvl4pPr marL="159980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8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0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3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59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gi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raphbio1.com/en/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2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shiny.posit.co/r/gallery/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xli233/FriendsDontLetFriends" TargetMode="Externa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4.svg"/><Relationship Id="rId5" Type="http://schemas.openxmlformats.org/officeDocument/2006/relationships/image" Target="../media/image93.svg"/><Relationship Id="rId4" Type="http://schemas.openxmlformats.org/officeDocument/2006/relationships/image" Target="../media/image92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hyperlink" Target="https://bookdown.org/weicheng/shinyTutorial/" TargetMode="External"/><Relationship Id="rId3" Type="http://schemas.openxmlformats.org/officeDocument/2006/relationships/hyperlink" Target="https://ggplot2-book.org/" TargetMode="External"/><Relationship Id="rId7" Type="http://schemas.openxmlformats.org/officeDocument/2006/relationships/hyperlink" Target="https://github.com/cxli233/FriendsDontLetFriends" TargetMode="Externa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clauswilke.com/dataviz/" TargetMode="External"/><Relationship Id="rId5" Type="http://schemas.openxmlformats.org/officeDocument/2006/relationships/hyperlink" Target="https://r-graph-gallery.com/" TargetMode="External"/><Relationship Id="rId10" Type="http://schemas.openxmlformats.org/officeDocument/2006/relationships/hyperlink" Target="https://www.appsilon.com/post/r-shiny-in-life-sciences-examples" TargetMode="External"/><Relationship Id="rId4" Type="http://schemas.openxmlformats.org/officeDocument/2006/relationships/hyperlink" Target="https://ggplot2.tidyverse.org/reference/" TargetMode="External"/><Relationship Id="rId9" Type="http://schemas.openxmlformats.org/officeDocument/2006/relationships/hyperlink" Target="https://shiny.posit.co/r/getstarted/shiny-basics/lesson1/" TargetMode="Externa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KbcpyzKh9CHfrx-9l-oigd7yqKEowaZOqU52vFbQWxw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202C83D-2088-465F-D7FA-CA484F6F8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0352"/>
            <a:ext cx="3295078" cy="728361"/>
          </a:xfrm>
          <a:prstGeom prst="rect">
            <a:avLst/>
          </a:prstGeom>
        </p:spPr>
      </p:pic>
      <p:sp>
        <p:nvSpPr>
          <p:cNvPr id="2" name="Titre 3">
            <a:extLst>
              <a:ext uri="{FF2B5EF4-FFF2-40B4-BE49-F238E27FC236}">
                <a16:creationId xmlns:a16="http://schemas.microsoft.com/office/drawing/2014/main" id="{FEE110F1-12D1-6F32-F730-9E2493E5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5548" y="2668766"/>
            <a:ext cx="5172904" cy="2371529"/>
          </a:xfrm>
        </p:spPr>
        <p:txBody>
          <a:bodyPr>
            <a:normAutofit fontScale="90000"/>
          </a:bodyPr>
          <a:lstStyle/>
          <a:p>
            <a:pPr algn="ctr"/>
            <a:r>
              <a:rPr lang="en-CA" dirty="0">
                <a:latin typeface="Helvetica"/>
                <a:cs typeface="Helvetica"/>
              </a:rPr>
              <a:t>Data Visualization in R</a:t>
            </a:r>
            <a:endParaRPr lang="en-CA" dirty="0">
              <a:latin typeface="Helvetica" pitchFamily="2" charset="0"/>
              <a:cs typeface="Helvetic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55E976-1AED-0055-B0AA-CF3C20081B1B}"/>
              </a:ext>
            </a:extLst>
          </p:cNvPr>
          <p:cNvSpPr txBox="1"/>
          <p:nvPr/>
        </p:nvSpPr>
        <p:spPr>
          <a:xfrm>
            <a:off x="165136" y="5830349"/>
            <a:ext cx="397303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1800" b="1" dirty="0">
                <a:latin typeface="Helvetica Light"/>
              </a:rPr>
              <a:t>Workshop Lead: </a:t>
            </a:r>
            <a:r>
              <a:rPr lang="en-CA" sz="1800" dirty="0">
                <a:latin typeface="Helvetica Light"/>
              </a:rPr>
              <a:t>Meghana Munipalle</a:t>
            </a:r>
            <a:endParaRPr lang="en-CA" dirty="0">
              <a:latin typeface="Helvetica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5C0225-6028-3219-E065-45F040930812}"/>
              </a:ext>
            </a:extLst>
          </p:cNvPr>
          <p:cNvSpPr txBox="1"/>
          <p:nvPr/>
        </p:nvSpPr>
        <p:spPr>
          <a:xfrm>
            <a:off x="165136" y="6199681"/>
            <a:ext cx="286946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1800" b="1" dirty="0">
                <a:latin typeface="Helvetica Light"/>
              </a:rPr>
              <a:t>Date</a:t>
            </a:r>
            <a:r>
              <a:rPr lang="en-CA" sz="1800" dirty="0">
                <a:latin typeface="Helvetica Light"/>
              </a:rPr>
              <a:t>: October 27, 2026</a:t>
            </a:r>
            <a:endParaRPr lang="en-CA" sz="1800" dirty="0">
              <a:latin typeface="Helvetica Light" panose="020B0403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5E6171-92A7-4C58-80AC-CC728B72D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728" y="691750"/>
            <a:ext cx="3087814" cy="17059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0D2061-4531-885F-9F36-8095A7D19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5728" y="221175"/>
            <a:ext cx="2869466" cy="73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249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EB4C462-CB37-CAFD-1DF9-E8B235F90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068" y="2469994"/>
            <a:ext cx="2269273" cy="22692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0A15FC-E14A-5195-4A2E-271643B099A1}"/>
              </a:ext>
            </a:extLst>
          </p:cNvPr>
          <p:cNvSpPr txBox="1"/>
          <p:nvPr/>
        </p:nvSpPr>
        <p:spPr>
          <a:xfrm>
            <a:off x="-258381" y="4842281"/>
            <a:ext cx="463229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CA" sz="1800" dirty="0"/>
              <a:t>Scan the QR code to sign up </a:t>
            </a:r>
          </a:p>
          <a:p>
            <a:pPr algn="ctr"/>
            <a:r>
              <a:rPr lang="en-CA" sz="1800" dirty="0"/>
              <a:t>for our </a:t>
            </a:r>
            <a:r>
              <a:rPr lang="en-CA" sz="1800" b="1" dirty="0"/>
              <a:t>mailing list!</a:t>
            </a:r>
            <a:endParaRPr lang="en-CA" sz="1800" dirty="0"/>
          </a:p>
        </p:txBody>
      </p:sp>
    </p:spTree>
    <p:extLst>
      <p:ext uri="{BB962C8B-B14F-4D97-AF65-F5344CB8AC3E}">
        <p14:creationId xmlns:p14="http://schemas.microsoft.com/office/powerpoint/2010/main" val="3133242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469F5-1CB1-A0C5-A0AB-8C0E16D75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7BB53-9B9C-129F-A1E3-EEB13FE26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138" y="138412"/>
            <a:ext cx="7886700" cy="1325565"/>
          </a:xfrm>
        </p:spPr>
        <p:txBody>
          <a:bodyPr/>
          <a:lstStyle/>
          <a:p>
            <a:r>
              <a:rPr lang="en-US" sz="4400" dirty="0">
                <a:latin typeface="Helvetica"/>
                <a:cs typeface="Helvetica"/>
              </a:rPr>
              <a:t>Goals</a:t>
            </a:r>
            <a:endParaRPr lang="en-US" sz="4400" dirty="0">
              <a:latin typeface="Helvetica" pitchFamily="2" charset="0"/>
              <a:cs typeface="Helvetic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D0FD1-C3AF-4B3B-2756-C8EC565B0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343" y="1650355"/>
            <a:ext cx="7378018" cy="459042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lang="en-CA" sz="1800" b="1" dirty="0">
                <a:ea typeface="Arial" panose="020B0604020202020204" pitchFamily="34" charset="0"/>
                <a:cs typeface="Arial" panose="020B0604020202020204" pitchFamily="34" charset="0"/>
              </a:rPr>
              <a:t>Better </a:t>
            </a:r>
            <a:r>
              <a:rPr lang="en-CA" sz="1800" b="1" dirty="0">
                <a:solidFill>
                  <a:schemeClr val="accent6"/>
                </a:solidFill>
                <a:ea typeface="Arial" panose="020B0604020202020204" pitchFamily="34" charset="0"/>
                <a:cs typeface="Arial" panose="020B0604020202020204" pitchFamily="34" charset="0"/>
              </a:rPr>
              <a:t>interpretability</a:t>
            </a:r>
            <a:r>
              <a:rPr lang="en-CA" sz="1800" b="1" dirty="0">
                <a:ea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CA" sz="1800" dirty="0">
                <a:ea typeface="Arial" panose="020B0604020202020204" pitchFamily="34" charset="0"/>
                <a:cs typeface="Arial" panose="020B0604020202020204" pitchFamily="34" charset="0"/>
              </a:rPr>
              <a:t> transformations &amp; faceting to make better comparisons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lang="en-CA" sz="1800" b="1" dirty="0">
                <a:ea typeface="Arial" panose="020B0604020202020204" pitchFamily="34" charset="0"/>
                <a:cs typeface="Arial" panose="020B0604020202020204" pitchFamily="34" charset="0"/>
              </a:rPr>
              <a:t>Better </a:t>
            </a:r>
            <a:r>
              <a:rPr lang="en-CA" sz="1800" b="1" dirty="0">
                <a:solidFill>
                  <a:schemeClr val="accent6"/>
                </a:solidFill>
                <a:ea typeface="Arial" panose="020B0604020202020204" pitchFamily="34" charset="0"/>
                <a:cs typeface="Arial" panose="020B0604020202020204" pitchFamily="34" charset="0"/>
              </a:rPr>
              <a:t>clarity</a:t>
            </a:r>
            <a:r>
              <a:rPr lang="en-CA" sz="1800" b="1" dirty="0">
                <a:ea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CA" sz="1800" dirty="0">
                <a:ea typeface="Arial" panose="020B0604020202020204" pitchFamily="34" charset="0"/>
                <a:cs typeface="Arial" panose="020B0604020202020204" pitchFamily="34" charset="0"/>
              </a:rPr>
              <a:t>customize your aesthetics to communicate data insights more effectively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lang="en-CA" sz="1800" b="1" dirty="0">
                <a:ea typeface="Arial" panose="020B0604020202020204" pitchFamily="34" charset="0"/>
                <a:cs typeface="Arial" panose="020B0604020202020204" pitchFamily="34" charset="0"/>
              </a:rPr>
              <a:t>Better </a:t>
            </a:r>
            <a:r>
              <a:rPr lang="en-CA" sz="1800" b="1" dirty="0">
                <a:solidFill>
                  <a:schemeClr val="accent6"/>
                </a:solidFill>
                <a:ea typeface="Arial" panose="020B0604020202020204" pitchFamily="34" charset="0"/>
                <a:cs typeface="Arial" panose="020B0604020202020204" pitchFamily="34" charset="0"/>
              </a:rPr>
              <a:t>engagement</a:t>
            </a:r>
            <a:r>
              <a:rPr lang="en-CA" sz="1800" b="1" dirty="0">
                <a:ea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CA" sz="1800" dirty="0">
                <a:ea typeface="Arial" panose="020B0604020202020204" pitchFamily="34" charset="0"/>
                <a:cs typeface="Arial" panose="020B0604020202020204" pitchFamily="34" charset="0"/>
              </a:rPr>
              <a:t>let people interact with your visualizations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lang="en-CA" sz="1800" b="1" dirty="0">
                <a:ea typeface="Arial" panose="020B0604020202020204" pitchFamily="34" charset="0"/>
                <a:cs typeface="Arial" panose="020B0604020202020204" pitchFamily="34" charset="0"/>
              </a:rPr>
              <a:t>Better </a:t>
            </a:r>
            <a:r>
              <a:rPr lang="en-CA" sz="1800" b="1" dirty="0">
                <a:solidFill>
                  <a:schemeClr val="accent6"/>
                </a:solidFill>
                <a:ea typeface="Arial" panose="020B0604020202020204" pitchFamily="34" charset="0"/>
                <a:cs typeface="Arial" panose="020B0604020202020204" pitchFamily="34" charset="0"/>
              </a:rPr>
              <a:t>storytelling</a:t>
            </a:r>
            <a:r>
              <a:rPr lang="en-CA" sz="1800" b="1" dirty="0">
                <a:ea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CA" sz="1800" dirty="0">
                <a:ea typeface="Arial" panose="020B0604020202020204" pitchFamily="34" charset="0"/>
                <a:cs typeface="Arial" panose="020B0604020202020204" pitchFamily="34" charset="0"/>
              </a:rPr>
              <a:t>what’s the right plot type for your analysis?</a:t>
            </a:r>
          </a:p>
        </p:txBody>
      </p:sp>
    </p:spTree>
    <p:extLst>
      <p:ext uri="{BB962C8B-B14F-4D97-AF65-F5344CB8AC3E}">
        <p14:creationId xmlns:p14="http://schemas.microsoft.com/office/powerpoint/2010/main" val="742620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73F46-2394-BA6F-3928-C2DF91482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E1A87-7B86-4286-AAF9-31AB81C7F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138" y="138412"/>
            <a:ext cx="7886700" cy="1325565"/>
          </a:xfrm>
        </p:spPr>
        <p:txBody>
          <a:bodyPr/>
          <a:lstStyle/>
          <a:p>
            <a:r>
              <a:rPr lang="en-US" sz="4400">
                <a:latin typeface="Helvetica"/>
                <a:cs typeface="Helvetica"/>
              </a:rPr>
              <a:t>Outline</a:t>
            </a:r>
            <a:endParaRPr lang="en-US" sz="4400">
              <a:latin typeface="Helvetica" pitchFamily="2" charset="0"/>
              <a:cs typeface="Helvetic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6355F9-258A-F339-75E0-EDAEFB38F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7956" y="-722806"/>
            <a:ext cx="3048000" cy="304800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334FDA6-7CDC-92EE-C5C1-4BEB04714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619" y="1633546"/>
            <a:ext cx="8304761" cy="4754879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750"/>
              </a:spcAft>
            </a:pPr>
            <a:r>
              <a:rPr lang="en-US" sz="1800" b="1" dirty="0">
                <a:ea typeface="SimSun" panose="02010600030101010101" pitchFamily="2" charset="-122"/>
              </a:rPr>
              <a:t>Module 1: Brief Review of Basic Visualization in R</a:t>
            </a:r>
          </a:p>
          <a:p>
            <a:pPr lvl="1">
              <a:spcAft>
                <a:spcPts val="750"/>
              </a:spcAft>
            </a:pPr>
            <a:r>
              <a:rPr lang="en-US" sz="1800" dirty="0">
                <a:ea typeface="SimSun" panose="02010600030101010101" pitchFamily="2" charset="-122"/>
              </a:rPr>
              <a:t>Why use ggplot 2</a:t>
            </a:r>
          </a:p>
          <a:p>
            <a:pPr lvl="1">
              <a:spcAft>
                <a:spcPts val="750"/>
              </a:spcAft>
            </a:pPr>
            <a:r>
              <a:rPr lang="en-US" sz="1800" dirty="0">
                <a:ea typeface="SimSun" panose="02010600030101010101" pitchFamily="2" charset="-122"/>
              </a:rPr>
              <a:t>Structure of a ggplot2 command</a:t>
            </a:r>
          </a:p>
          <a:p>
            <a:pPr>
              <a:spcAft>
                <a:spcPts val="750"/>
              </a:spcAft>
            </a:pPr>
            <a:r>
              <a:rPr lang="en-US" sz="1800" b="1" dirty="0">
                <a:ea typeface="SimSun" panose="02010600030101010101" pitchFamily="2" charset="-122"/>
              </a:rPr>
              <a:t>Module 2: Advanced Customization and Data Transformation</a:t>
            </a:r>
            <a:r>
              <a:rPr lang="en-US" sz="1800" b="1" dirty="0"/>
              <a:t> </a:t>
            </a:r>
          </a:p>
          <a:p>
            <a:pPr lvl="1">
              <a:spcAft>
                <a:spcPts val="750"/>
              </a:spcAft>
            </a:pPr>
            <a:r>
              <a:rPr lang="en-US" sz="1800" dirty="0"/>
              <a:t>Data transformations and faceting</a:t>
            </a:r>
          </a:p>
          <a:p>
            <a:pPr lvl="1">
              <a:spcAft>
                <a:spcPts val="750"/>
              </a:spcAft>
            </a:pPr>
            <a:r>
              <a:rPr lang="en-US" sz="1800" dirty="0"/>
              <a:t>Customizing ggplot2 plots</a:t>
            </a:r>
          </a:p>
          <a:p>
            <a:pPr lvl="1">
              <a:spcAft>
                <a:spcPts val="750"/>
              </a:spcAft>
            </a:pPr>
            <a:r>
              <a:rPr lang="en-US" sz="1800" i="1" dirty="0"/>
              <a:t>Exercise 1</a:t>
            </a:r>
          </a:p>
          <a:p>
            <a:pPr>
              <a:spcAft>
                <a:spcPts val="750"/>
              </a:spcAft>
            </a:pPr>
            <a:r>
              <a:rPr lang="en-US" sz="1800" b="1" dirty="0">
                <a:ea typeface="SimSun" panose="02010600030101010101" pitchFamily="2" charset="-122"/>
              </a:rPr>
              <a:t>Module 3: Advanced Visualization Techniques </a:t>
            </a:r>
          </a:p>
          <a:p>
            <a:pPr lvl="1">
              <a:spcAft>
                <a:spcPts val="750"/>
              </a:spcAft>
            </a:pPr>
            <a:r>
              <a:rPr lang="en-US" sz="1800" dirty="0"/>
              <a:t>Specialized plots</a:t>
            </a:r>
          </a:p>
          <a:p>
            <a:pPr lvl="1">
              <a:spcAft>
                <a:spcPts val="750"/>
              </a:spcAft>
            </a:pPr>
            <a:r>
              <a:rPr lang="en-US" sz="1800" dirty="0"/>
              <a:t>Introduction to interactive and dynamic visualizations</a:t>
            </a:r>
          </a:p>
          <a:p>
            <a:pPr lvl="1">
              <a:spcAft>
                <a:spcPts val="750"/>
              </a:spcAft>
            </a:pPr>
            <a:r>
              <a:rPr lang="en-US" sz="1800" i="1" dirty="0"/>
              <a:t>Exercise 2</a:t>
            </a:r>
          </a:p>
        </p:txBody>
      </p:sp>
    </p:spTree>
    <p:extLst>
      <p:ext uri="{BB962C8B-B14F-4D97-AF65-F5344CB8AC3E}">
        <p14:creationId xmlns:p14="http://schemas.microsoft.com/office/powerpoint/2010/main" val="3060929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5D35575-B176-9945-2DA6-DE5C2C3D9F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0347353"/>
              </p:ext>
            </p:extLst>
          </p:nvPr>
        </p:nvGraphicFramePr>
        <p:xfrm>
          <a:off x="264254" y="2177890"/>
          <a:ext cx="8615492" cy="39584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5650">
                  <a:extLst>
                    <a:ext uri="{9D8B030D-6E8A-4147-A177-3AD203B41FA5}">
                      <a16:colId xmlns:a16="http://schemas.microsoft.com/office/drawing/2014/main" val="4010006632"/>
                    </a:ext>
                  </a:extLst>
                </a:gridCol>
                <a:gridCol w="3286509">
                  <a:extLst>
                    <a:ext uri="{9D8B030D-6E8A-4147-A177-3AD203B41FA5}">
                      <a16:colId xmlns:a16="http://schemas.microsoft.com/office/drawing/2014/main" val="3226411165"/>
                    </a:ext>
                  </a:extLst>
                </a:gridCol>
                <a:gridCol w="3093333">
                  <a:extLst>
                    <a:ext uri="{9D8B030D-6E8A-4147-A177-3AD203B41FA5}">
                      <a16:colId xmlns:a16="http://schemas.microsoft.com/office/drawing/2014/main" val="2811167252"/>
                    </a:ext>
                  </a:extLst>
                </a:gridCol>
              </a:tblGrid>
              <a:tr h="267355">
                <a:tc>
                  <a:txBody>
                    <a:bodyPr/>
                    <a:lstStyle/>
                    <a:p>
                      <a:r>
                        <a:rPr lang="en-US" sz="1400" b="0" dirty="0"/>
                        <a:t>Feature</a:t>
                      </a:r>
                      <a:endParaRPr lang="en-US" sz="1400" b="0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ggplot2</a:t>
                      </a:r>
                      <a:endParaRPr lang="en-US" sz="1400" b="0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Base R</a:t>
                      </a:r>
                      <a:endParaRPr lang="en-US" sz="1400" b="0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3511381146"/>
                  </a:ext>
                </a:extLst>
              </a:tr>
              <a:tr h="659085">
                <a:tc>
                  <a:txBody>
                    <a:bodyPr/>
                    <a:lstStyle/>
                    <a:p>
                      <a:r>
                        <a:rPr lang="en-US" sz="1400" b="0" dirty="0"/>
                        <a:t>Design Framework</a:t>
                      </a:r>
                      <a:endParaRPr lang="en-US" sz="1400" b="0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Based on Grammar of Graphics, enabling </a:t>
                      </a:r>
                      <a:r>
                        <a:rPr lang="en-US" sz="1400" b="1" dirty="0"/>
                        <a:t>layered</a:t>
                      </a:r>
                      <a:r>
                        <a:rPr lang="en-US" sz="1400" b="0" dirty="0"/>
                        <a:t> construction</a:t>
                      </a:r>
                      <a:endParaRPr lang="en-US" sz="1400" b="0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Procedural approach, </a:t>
                      </a:r>
                      <a:r>
                        <a:rPr lang="en-US" sz="1400" b="1" dirty="0"/>
                        <a:t>harder</a:t>
                      </a:r>
                      <a:r>
                        <a:rPr lang="en-US" sz="1400" b="0" dirty="0"/>
                        <a:t> to modify and extend</a:t>
                      </a:r>
                      <a:endParaRPr lang="en-US" sz="1400" b="0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694243848"/>
                  </a:ext>
                </a:extLst>
              </a:tr>
              <a:tr h="659085">
                <a:tc>
                  <a:txBody>
                    <a:bodyPr/>
                    <a:lstStyle/>
                    <a:p>
                      <a:r>
                        <a:rPr lang="en-US" sz="1400" b="0" dirty="0"/>
                        <a:t>Customization</a:t>
                      </a:r>
                      <a:endParaRPr lang="en-US" sz="1400" b="0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Themes and formatting (theme_*) for professional aesthetics</a:t>
                      </a:r>
                      <a:endParaRPr lang="en-US" sz="1400" b="0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Requires </a:t>
                      </a:r>
                      <a:r>
                        <a:rPr lang="en-US" sz="1400" b="1" dirty="0"/>
                        <a:t>manual</a:t>
                      </a:r>
                      <a:r>
                        <a:rPr lang="en-US" sz="1400" b="0" dirty="0"/>
                        <a:t> adjustments using par() or axis()</a:t>
                      </a:r>
                      <a:endParaRPr lang="en-US" sz="1400" b="0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2513591382"/>
                  </a:ext>
                </a:extLst>
              </a:tr>
              <a:tr h="460313">
                <a:tc>
                  <a:txBody>
                    <a:bodyPr/>
                    <a:lstStyle/>
                    <a:p>
                      <a:r>
                        <a:rPr lang="en-US" sz="1400" b="0" dirty="0"/>
                        <a:t>Faceting</a:t>
                      </a:r>
                      <a:endParaRPr lang="en-US" sz="1400" b="0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Built-in</a:t>
                      </a:r>
                      <a:r>
                        <a:rPr lang="en-US" sz="1400" b="0" dirty="0"/>
                        <a:t> with </a:t>
                      </a:r>
                      <a:r>
                        <a:rPr lang="en-US" sz="1400" b="0" dirty="0" err="1"/>
                        <a:t>facet_wrap</a:t>
                      </a:r>
                      <a:r>
                        <a:rPr lang="en-US" sz="1400" b="0" dirty="0"/>
                        <a:t>() and </a:t>
                      </a:r>
                      <a:r>
                        <a:rPr lang="en-US" sz="1400" b="0" dirty="0" err="1"/>
                        <a:t>facet_grid</a:t>
                      </a:r>
                      <a:r>
                        <a:rPr lang="en-US" sz="1400" b="0" dirty="0"/>
                        <a:t>()</a:t>
                      </a:r>
                      <a:endParaRPr lang="en-US" sz="1400" b="0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Requires </a:t>
                      </a:r>
                      <a:r>
                        <a:rPr lang="en-US" sz="1400" b="1" dirty="0"/>
                        <a:t>manual</a:t>
                      </a:r>
                      <a:r>
                        <a:rPr lang="en-US" sz="1400" b="0" dirty="0"/>
                        <a:t> layout setup</a:t>
                      </a:r>
                      <a:endParaRPr lang="en-US" sz="1400" b="0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538135227"/>
                  </a:ext>
                </a:extLst>
              </a:tr>
              <a:tr h="471939">
                <a:tc>
                  <a:txBody>
                    <a:bodyPr/>
                    <a:lstStyle/>
                    <a:p>
                      <a:r>
                        <a:rPr lang="en-US" sz="1400" b="0" dirty="0"/>
                        <a:t>Syntax</a:t>
                      </a:r>
                      <a:endParaRPr lang="en-US" sz="1400" b="0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Consistent and modular, </a:t>
                      </a:r>
                      <a:r>
                        <a:rPr lang="en-US" sz="1400" b="1" dirty="0"/>
                        <a:t>easy</a:t>
                      </a:r>
                      <a:r>
                        <a:rPr lang="en-US" sz="1400" b="0" dirty="0"/>
                        <a:t> to learn and maintain</a:t>
                      </a:r>
                      <a:endParaRPr lang="en-US" sz="1400" b="0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Fragmented</a:t>
                      </a:r>
                      <a:r>
                        <a:rPr lang="en-US" sz="1400" b="0" dirty="0"/>
                        <a:t> and less intuitive</a:t>
                      </a:r>
                      <a:endParaRPr lang="en-US" sz="1400" b="0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3097978101"/>
                  </a:ext>
                </a:extLst>
              </a:tr>
              <a:tr h="460313">
                <a:tc>
                  <a:txBody>
                    <a:bodyPr/>
                    <a:lstStyle/>
                    <a:p>
                      <a:r>
                        <a:rPr lang="en-US" sz="1400" b="0" dirty="0"/>
                        <a:t>Data Transformations</a:t>
                      </a:r>
                      <a:endParaRPr lang="en-US" sz="1400" b="0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Directly</a:t>
                      </a:r>
                      <a:r>
                        <a:rPr lang="en-US" sz="1400" b="0" dirty="0"/>
                        <a:t> supports scaling and slicing in plots</a:t>
                      </a:r>
                      <a:endParaRPr lang="en-US" sz="1400" b="0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Preprocessing required </a:t>
                      </a:r>
                      <a:r>
                        <a:rPr lang="en-US" sz="1400" b="0" dirty="0"/>
                        <a:t>before visualization</a:t>
                      </a:r>
                      <a:endParaRPr lang="en-US" sz="1400" b="0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2207960109"/>
                  </a:ext>
                </a:extLst>
              </a:tr>
              <a:tr h="471939">
                <a:tc>
                  <a:txBody>
                    <a:bodyPr/>
                    <a:lstStyle/>
                    <a:p>
                      <a:r>
                        <a:rPr lang="en-US" sz="1400" b="0" dirty="0"/>
                        <a:t>Multi-layered Plots</a:t>
                      </a:r>
                      <a:endParaRPr lang="en-US" sz="1400" b="0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Allows layering </a:t>
                      </a:r>
                      <a:r>
                        <a:rPr lang="en-US" sz="1400" b="0" dirty="0"/>
                        <a:t>of multiple plot types and elements</a:t>
                      </a:r>
                      <a:endParaRPr lang="en-US" sz="1400" b="0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Complex</a:t>
                      </a:r>
                      <a:r>
                        <a:rPr lang="en-US" sz="1400" b="0" dirty="0"/>
                        <a:t> to achieve with overlays</a:t>
                      </a:r>
                      <a:endParaRPr lang="en-US" sz="1400" b="0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625692688"/>
                  </a:ext>
                </a:extLst>
              </a:tr>
              <a:tr h="471939">
                <a:tc>
                  <a:txBody>
                    <a:bodyPr/>
                    <a:lstStyle/>
                    <a:p>
                      <a:r>
                        <a:rPr lang="en-US" sz="1400" b="0" dirty="0"/>
                        <a:t>Interactivity</a:t>
                      </a:r>
                      <a:endParaRPr lang="en-US" sz="1400" b="0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Seamless integration </a:t>
                      </a:r>
                      <a:r>
                        <a:rPr lang="en-US" sz="1400" b="0" dirty="0"/>
                        <a:t>with interactive packages like </a:t>
                      </a:r>
                      <a:r>
                        <a:rPr lang="en-US" sz="1400" b="0" dirty="0" err="1"/>
                        <a:t>plotly</a:t>
                      </a:r>
                      <a:endParaRPr lang="en-US" sz="1400" b="0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Requires </a:t>
                      </a:r>
                      <a:r>
                        <a:rPr lang="en-US" sz="1400" b="1" dirty="0"/>
                        <a:t>external packages </a:t>
                      </a:r>
                      <a:r>
                        <a:rPr lang="en-US" sz="1400" b="0" dirty="0"/>
                        <a:t>with complex workflows</a:t>
                      </a:r>
                      <a:endParaRPr lang="en-US" sz="1400" b="0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3389635172"/>
                  </a:ext>
                </a:extLst>
              </a:tr>
            </a:tbl>
          </a:graphicData>
        </a:graphic>
      </p:graphicFrame>
      <p:sp>
        <p:nvSpPr>
          <p:cNvPr id="3" name="Cloud Callout 2">
            <a:extLst>
              <a:ext uri="{FF2B5EF4-FFF2-40B4-BE49-F238E27FC236}">
                <a16:creationId xmlns:a16="http://schemas.microsoft.com/office/drawing/2014/main" id="{607FB292-2B0A-7084-DDDE-C4D954FF7CEC}"/>
              </a:ext>
            </a:extLst>
          </p:cNvPr>
          <p:cNvSpPr/>
          <p:nvPr/>
        </p:nvSpPr>
        <p:spPr>
          <a:xfrm>
            <a:off x="3467594" y="1427488"/>
            <a:ext cx="2075215" cy="750402"/>
          </a:xfrm>
          <a:prstGeom prst="cloudCallou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1" dirty="0">
                <a:solidFill>
                  <a:schemeClr val="tx1"/>
                </a:solidFill>
              </a:rPr>
              <a:t>With better aesthetic and higher efficiency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6CD358F-2A4D-E09D-215C-C23390824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</p:spPr>
        <p:txBody>
          <a:bodyPr>
            <a:normAutofit/>
          </a:bodyPr>
          <a:lstStyle/>
          <a:p>
            <a:r>
              <a:rPr lang="en-US" sz="2800" dirty="0"/>
              <a:t>Why Use ggplot2 Over Base R for Data Visualization?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44309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4E3D9-D069-E5A9-1B26-A90531786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ggplot2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95E5089-4B36-79EA-C29D-BBA3D73886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57"/>
          <a:stretch/>
        </p:blipFill>
        <p:spPr bwMode="auto">
          <a:xfrm>
            <a:off x="98946" y="1784693"/>
            <a:ext cx="4462527" cy="4708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AFC93C1-1C7C-E437-ED75-3C623D24D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2489" y="1784693"/>
            <a:ext cx="4681511" cy="3325832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gg = “grammar of graphics”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Components in ggplot2:</a:t>
            </a:r>
          </a:p>
          <a:p>
            <a:pPr lvl="1"/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</a:p>
          <a:p>
            <a:pPr lvl="1"/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Aesthetic attribute (</a:t>
            </a:r>
            <a:r>
              <a:rPr lang="en-US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Aes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1"/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Geometric object (</a:t>
            </a:r>
            <a:r>
              <a:rPr lang="en-US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Geom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Stats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Position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Coord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Facet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Theme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……</a:t>
            </a:r>
          </a:p>
          <a:p>
            <a:endParaRPr lang="en-US" sz="3200" dirty="0"/>
          </a:p>
        </p:txBody>
      </p:sp>
      <p:pic>
        <p:nvPicPr>
          <p:cNvPr id="5" name="Picture 4" descr="A white screen with black text&#10;&#10;AI-generated content may be incorrect.">
            <a:extLst>
              <a:ext uri="{FF2B5EF4-FFF2-40B4-BE49-F238E27FC236}">
                <a16:creationId xmlns:a16="http://schemas.microsoft.com/office/drawing/2014/main" id="{9400E06B-5496-B5B7-1057-17D5230B68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398" y="3845306"/>
            <a:ext cx="2341618" cy="15916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885DE06-A445-2BFC-3BD1-8D57901A6344}"/>
              </a:ext>
            </a:extLst>
          </p:cNvPr>
          <p:cNvSpPr/>
          <p:nvPr/>
        </p:nvSpPr>
        <p:spPr>
          <a:xfrm>
            <a:off x="6583398" y="3845305"/>
            <a:ext cx="2341619" cy="6200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AF35DFD2-D3D1-46E4-40FC-A46AE445C655}"/>
              </a:ext>
            </a:extLst>
          </p:cNvPr>
          <p:cNvSpPr/>
          <p:nvPr/>
        </p:nvSpPr>
        <p:spPr>
          <a:xfrm rot="2608426">
            <a:off x="7433671" y="3300853"/>
            <a:ext cx="661550" cy="2935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9903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C23F8-8F1B-EB55-BC77-2097B4BD5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Structure of the ggplot2 command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8791CA-A45B-E646-0DD2-2D592080DB7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64472" y="2895021"/>
            <a:ext cx="4669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What is the relationship between penguin bill length and bill depth?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602FA9C-7096-89BA-D333-C4BA60014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590" y="3927514"/>
            <a:ext cx="4799653" cy="1991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75860D02-F9D0-E6FF-93CC-8EFB06C46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677" y="1432243"/>
            <a:ext cx="3554852" cy="2175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A20E4A-FE43-B43F-0D26-5E704053F5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399" y="3608066"/>
            <a:ext cx="3765409" cy="2689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raphic 7" descr="Badge Question Mark outline">
            <a:extLst>
              <a:ext uri="{FF2B5EF4-FFF2-40B4-BE49-F238E27FC236}">
                <a16:creationId xmlns:a16="http://schemas.microsoft.com/office/drawing/2014/main" id="{1F23FD6D-7E15-C3D5-1456-2E8C6F39AA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7049" y="2148637"/>
            <a:ext cx="743033" cy="74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740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8F661-B5E3-6607-9000-96A0D17CB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7B5ED-0B23-B455-79D4-A2D09887E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9908" y="2016530"/>
            <a:ext cx="7274378" cy="3263504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387,216 observations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 variables</a:t>
            </a:r>
          </a:p>
          <a:p>
            <a:pPr marL="557213" lvl="1" indent="-214313"/>
            <a:r>
              <a:rPr lang="en-US" sz="135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Country: a factor with 142 levels</a:t>
            </a:r>
          </a:p>
          <a:p>
            <a:pPr marL="557213" lvl="1" indent="-214313"/>
            <a:r>
              <a:rPr lang="en-US" sz="135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Continent: a factor with 5 levels</a:t>
            </a:r>
          </a:p>
          <a:p>
            <a:pPr marL="557213" lvl="1" indent="-214313"/>
            <a:r>
              <a:rPr lang="en-US" sz="135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Year: going from 1952 to 2007 in increments of 5 years</a:t>
            </a:r>
          </a:p>
          <a:p>
            <a:pPr marL="557213" lvl="1" indent="-214313"/>
            <a:r>
              <a:rPr lang="en-US" sz="135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Pop: population</a:t>
            </a:r>
          </a:p>
          <a:p>
            <a:pPr marL="557213" lvl="1" indent="-214313"/>
            <a:r>
              <a:rPr lang="en-US" sz="135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gdpPercap</a:t>
            </a:r>
            <a:r>
              <a:rPr lang="en-US" sz="135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GDP per capita</a:t>
            </a:r>
          </a:p>
          <a:p>
            <a:pPr marL="557213" lvl="1" indent="-214313"/>
            <a:r>
              <a:rPr lang="en-US" sz="135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lifeExp</a:t>
            </a:r>
            <a:r>
              <a:rPr lang="en-US" sz="135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life expectancy</a:t>
            </a:r>
          </a:p>
          <a:p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BA29AF-C9AA-022F-2E06-D533AFD4E598}"/>
              </a:ext>
            </a:extLst>
          </p:cNvPr>
          <p:cNvSpPr/>
          <p:nvPr/>
        </p:nvSpPr>
        <p:spPr>
          <a:xfrm>
            <a:off x="6089681" y="728722"/>
            <a:ext cx="1651735" cy="577081"/>
          </a:xfrm>
          <a:prstGeom prst="rect">
            <a:avLst/>
          </a:prstGeom>
          <a:solidFill>
            <a:schemeClr val="bg1"/>
          </a:solidFill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3300" b="1" dirty="0">
                <a:ln w="6600">
                  <a:solidFill>
                    <a:schemeClr val="accent1">
                      <a:lumMod val="40000"/>
                      <a:lumOff val="60000"/>
                    </a:schemeClr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RNA-seq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2C7919-76DF-8841-193C-A637E0AB8F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657"/>
          <a:stretch>
            <a:fillRect/>
          </a:stretch>
        </p:blipFill>
        <p:spPr>
          <a:xfrm>
            <a:off x="589994" y="4447793"/>
            <a:ext cx="7964011" cy="132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628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FE1A9-864F-F2CA-AF62-A71B615EC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 plot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6A9CDF-FCD4-6DC2-108B-264AAD291DB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662264" y="1116202"/>
            <a:ext cx="5075335" cy="1065929"/>
          </a:xfrm>
          <a:prstGeom prst="rect">
            <a:avLst/>
          </a:prstGeom>
        </p:spPr>
        <p:txBody>
          <a:bodyPr vert="horz" lIns="51435" tIns="25718" rIns="51435" bIns="25718" rtlCol="0" anchor="ctr">
            <a:normAutofit/>
          </a:bodyPr>
          <a:lstStyle/>
          <a:p>
            <a:pPr indent="-128585">
              <a:spcBef>
                <a:spcPts val="563"/>
              </a:spcBef>
            </a:pPr>
            <a:r>
              <a:rPr lang="en-US" sz="1238" dirty="0"/>
              <a:t>discrete variable</a:t>
            </a:r>
          </a:p>
          <a:p>
            <a:pPr indent="-128585">
              <a:spcBef>
                <a:spcPts val="563"/>
              </a:spcBef>
            </a:pPr>
            <a:r>
              <a:rPr lang="en-US" sz="1238" dirty="0"/>
              <a:t>ggplot(samples, </a:t>
            </a:r>
            <a:r>
              <a:rPr lang="en-US" sz="1238" dirty="0" err="1"/>
              <a:t>aes</a:t>
            </a:r>
            <a:r>
              <a:rPr lang="en-US" sz="1238" dirty="0"/>
              <a:t>(x = sample, y = </a:t>
            </a:r>
            <a:r>
              <a:rPr lang="en-US" sz="1238" dirty="0" err="1"/>
              <a:t>library_size</a:t>
            </a:r>
            <a:r>
              <a:rPr lang="en-US" sz="1238" dirty="0"/>
              <a:t> / 1e6, fill = condition)) +  </a:t>
            </a:r>
            <a:r>
              <a:rPr lang="en-US" sz="1238" dirty="0" err="1"/>
              <a:t>geom_col</a:t>
            </a:r>
            <a:r>
              <a:rPr lang="en-US" sz="1238" dirty="0"/>
              <a:t>() +  theme(</a:t>
            </a:r>
            <a:r>
              <a:rPr lang="en-US" sz="1238" dirty="0" err="1"/>
              <a:t>axis.text.x</a:t>
            </a:r>
            <a:r>
              <a:rPr lang="en-US" sz="1238" dirty="0"/>
              <a:t> = </a:t>
            </a:r>
            <a:r>
              <a:rPr lang="en-US" sz="1238" dirty="0" err="1"/>
              <a:t>element_text</a:t>
            </a:r>
            <a:r>
              <a:rPr lang="en-US" sz="1238" dirty="0"/>
              <a:t>(angle = 45, </a:t>
            </a:r>
            <a:r>
              <a:rPr lang="en-US" sz="1238" dirty="0" err="1"/>
              <a:t>hjust</a:t>
            </a:r>
            <a:r>
              <a:rPr lang="en-US" sz="1238" dirty="0"/>
              <a:t> = 1))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D3006B-9275-B27B-4E4F-597C25002BF9}"/>
              </a:ext>
            </a:extLst>
          </p:cNvPr>
          <p:cNvSpPr txBox="1"/>
          <p:nvPr/>
        </p:nvSpPr>
        <p:spPr>
          <a:xfrm>
            <a:off x="1326573" y="5891607"/>
            <a:ext cx="6490855" cy="5080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351" dirty="0"/>
              <a:t>Research Question: </a:t>
            </a:r>
          </a:p>
          <a:p>
            <a:r>
              <a:rPr lang="en-US" sz="1351" dirty="0"/>
              <a:t>Were all 18 samples sequenced to a similar depth?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424671-EDB8-C7DB-7401-454B378BF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417" y="2182131"/>
            <a:ext cx="4763165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919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9D604D9D-3C7A-C580-A902-A518ECA85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824" y="3368951"/>
            <a:ext cx="2447084" cy="17479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649603E-8AA4-60BE-F08E-CD87E3B461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2661" y="3408298"/>
            <a:ext cx="2434062" cy="17479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869A34-EA6D-A86F-2B01-03E6142107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274" y="3445197"/>
            <a:ext cx="2413102" cy="17328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D2B2C5-BBAB-6142-7B6C-A27BBFE40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Histogram/ Frequency/ Density Plot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BFAA0F-985D-3E3E-1B4A-D6747192C53F}"/>
              </a:ext>
            </a:extLst>
          </p:cNvPr>
          <p:cNvSpPr txBox="1"/>
          <p:nvPr/>
        </p:nvSpPr>
        <p:spPr>
          <a:xfrm>
            <a:off x="898673" y="2750184"/>
            <a:ext cx="2412552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128585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ggplot(expr, </a:t>
            </a:r>
            <a:r>
              <a:rPr lang="en-US" sz="1200" dirty="0" err="1"/>
              <a:t>aes</a:t>
            </a:r>
            <a:r>
              <a:rPr lang="en-US" sz="1200" dirty="0"/>
              <a:t>(x = </a:t>
            </a:r>
            <a:r>
              <a:rPr lang="en-US" sz="1200" dirty="0" err="1"/>
              <a:t>log_cpm</a:t>
            </a:r>
            <a:r>
              <a:rPr lang="en-US" sz="1200" dirty="0"/>
              <a:t>)) + </a:t>
            </a:r>
            <a:r>
              <a:rPr lang="en-US" sz="1200" dirty="0" err="1"/>
              <a:t>geom_histogram</a:t>
            </a:r>
            <a:r>
              <a:rPr lang="en-US" sz="1200" dirty="0"/>
              <a:t>(</a:t>
            </a:r>
            <a:r>
              <a:rPr lang="en-US" sz="1200" dirty="0" err="1"/>
              <a:t>binwidth</a:t>
            </a:r>
            <a:r>
              <a:rPr lang="en-US" sz="1200" dirty="0"/>
              <a:t> = 0.5)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1074D6-6BC1-6642-0EE5-111E3E7145D8}"/>
              </a:ext>
            </a:extLst>
          </p:cNvPr>
          <p:cNvSpPr txBox="1"/>
          <p:nvPr/>
        </p:nvSpPr>
        <p:spPr>
          <a:xfrm>
            <a:off x="3635009" y="2585338"/>
            <a:ext cx="1873981" cy="822960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/>
          <a:p>
            <a:pPr indent="-128585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ggplot(expr, </a:t>
            </a:r>
            <a:r>
              <a:rPr lang="en-US" sz="1200" dirty="0" err="1"/>
              <a:t>aes</a:t>
            </a:r>
            <a:r>
              <a:rPr lang="en-US" sz="1200" dirty="0"/>
              <a:t>(x = </a:t>
            </a:r>
            <a:r>
              <a:rPr lang="en-US" sz="1200" dirty="0" err="1"/>
              <a:t>log_cpm</a:t>
            </a:r>
            <a:r>
              <a:rPr lang="en-US" sz="1200" dirty="0"/>
              <a:t>, </a:t>
            </a:r>
            <a:r>
              <a:rPr lang="en-US" sz="1200" dirty="0" err="1"/>
              <a:t>colour</a:t>
            </a:r>
            <a:r>
              <a:rPr lang="en-US" sz="1200" dirty="0"/>
              <a:t> = tissue)) + </a:t>
            </a:r>
            <a:r>
              <a:rPr lang="en-US" sz="1200" dirty="0" err="1"/>
              <a:t>geom_freqpoly</a:t>
            </a:r>
            <a:r>
              <a:rPr lang="en-US" sz="1200" dirty="0"/>
              <a:t>(</a:t>
            </a:r>
            <a:r>
              <a:rPr lang="en-US" sz="1200" dirty="0" err="1"/>
              <a:t>binwidth</a:t>
            </a:r>
            <a:r>
              <a:rPr lang="en-US" sz="1200" dirty="0"/>
              <a:t> = 0.5)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100382-4043-2660-183E-4E21C5740753}"/>
              </a:ext>
            </a:extLst>
          </p:cNvPr>
          <p:cNvSpPr txBox="1"/>
          <p:nvPr/>
        </p:nvSpPr>
        <p:spPr>
          <a:xfrm>
            <a:off x="5837437" y="2525244"/>
            <a:ext cx="2002285" cy="822960"/>
          </a:xfrm>
          <a:prstGeom prst="rect">
            <a:avLst/>
          </a:prstGeom>
        </p:spPr>
        <p:txBody>
          <a:bodyPr vert="horz" lIns="51435" tIns="25718" rIns="51435" bIns="25718" rtlCol="0" anchor="ctr">
            <a:normAutofit/>
          </a:bodyPr>
          <a:lstStyle/>
          <a:p>
            <a:pPr indent="-128585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ggplot(expr, </a:t>
            </a:r>
            <a:r>
              <a:rPr lang="en-US" sz="1200" dirty="0" err="1"/>
              <a:t>aes</a:t>
            </a:r>
            <a:r>
              <a:rPr lang="en-US" sz="1200" dirty="0"/>
              <a:t>(x = </a:t>
            </a:r>
            <a:r>
              <a:rPr lang="en-US" sz="1200" dirty="0" err="1"/>
              <a:t>log_cpm</a:t>
            </a:r>
            <a:r>
              <a:rPr lang="en-US" sz="1200" dirty="0"/>
              <a:t>, </a:t>
            </a:r>
            <a:r>
              <a:rPr lang="en-US" sz="1200" dirty="0" err="1"/>
              <a:t>colour</a:t>
            </a:r>
            <a:r>
              <a:rPr lang="en-US" sz="1200" dirty="0"/>
              <a:t> = sample)) + </a:t>
            </a:r>
            <a:r>
              <a:rPr lang="en-US" sz="1200" dirty="0" err="1"/>
              <a:t>geom_density</a:t>
            </a:r>
            <a:r>
              <a:rPr lang="en-US" sz="1200" dirty="0"/>
              <a:t>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B5A11D-D405-6FDB-E025-8AEB068D5FF3}"/>
              </a:ext>
            </a:extLst>
          </p:cNvPr>
          <p:cNvSpPr txBox="1"/>
          <p:nvPr/>
        </p:nvSpPr>
        <p:spPr>
          <a:xfrm>
            <a:off x="2009626" y="1482939"/>
            <a:ext cx="5140740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Choosing the right plot</a:t>
            </a:r>
          </a:p>
          <a:p>
            <a:pPr marL="160731" indent="-160731">
              <a:buFont typeface="Arial" panose="020B0604020202020204" pitchFamily="34" charset="0"/>
              <a:buChar char="•"/>
            </a:pPr>
            <a:r>
              <a:rPr lang="en-US" sz="1200" dirty="0"/>
              <a:t>To see </a:t>
            </a:r>
            <a:r>
              <a:rPr lang="en-US" sz="1200" b="1" dirty="0"/>
              <a:t>raw counts</a:t>
            </a:r>
            <a:r>
              <a:rPr lang="en-US" sz="1200" dirty="0"/>
              <a:t> and </a:t>
            </a:r>
            <a:r>
              <a:rPr lang="en-US" sz="1200" b="1" dirty="0"/>
              <a:t>distribution shape</a:t>
            </a:r>
            <a:r>
              <a:rPr lang="en-US" sz="1200" dirty="0"/>
              <a:t> -&gt; Histogram</a:t>
            </a:r>
          </a:p>
          <a:p>
            <a:pPr marL="160731" indent="-160731">
              <a:buFont typeface="Arial" panose="020B0604020202020204" pitchFamily="34" charset="0"/>
              <a:buChar char="•"/>
            </a:pPr>
            <a:r>
              <a:rPr lang="en-US" sz="1200" dirty="0"/>
              <a:t>To compare </a:t>
            </a:r>
            <a:r>
              <a:rPr lang="en-US" sz="1200" b="1" dirty="0"/>
              <a:t>multiple groups </a:t>
            </a:r>
            <a:r>
              <a:rPr lang="en-US" sz="1200" dirty="0"/>
              <a:t>without overlap issues -&gt; Frequency</a:t>
            </a:r>
          </a:p>
          <a:p>
            <a:pPr marL="160731" indent="-160731">
              <a:buFont typeface="Arial" panose="020B0604020202020204" pitchFamily="34" charset="0"/>
              <a:buChar char="•"/>
            </a:pPr>
            <a:r>
              <a:rPr lang="en-US" sz="1200" dirty="0"/>
              <a:t>To observe </a:t>
            </a:r>
            <a:r>
              <a:rPr lang="en-US" sz="1200" b="1" dirty="0"/>
              <a:t>smoothed probability distributions</a:t>
            </a:r>
            <a:r>
              <a:rPr lang="zh-CN" altLang="en-US" sz="1200" b="1" dirty="0"/>
              <a:t> </a:t>
            </a:r>
            <a:r>
              <a:rPr lang="en-US" altLang="zh-CN" sz="1200" dirty="0"/>
              <a:t>and</a:t>
            </a:r>
            <a:r>
              <a:rPr lang="en-US" altLang="zh-CN" sz="1200" b="1" dirty="0"/>
              <a:t> peaks</a:t>
            </a:r>
            <a:r>
              <a:rPr lang="en-US" sz="1200" b="1" dirty="0"/>
              <a:t> </a:t>
            </a:r>
            <a:r>
              <a:rPr lang="en-US" sz="1200" dirty="0"/>
              <a:t>-&gt; Density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D8AFB5-2DB6-4A29-1AF7-40AB5BC9A958}"/>
              </a:ext>
            </a:extLst>
          </p:cNvPr>
          <p:cNvSpPr txBox="1"/>
          <p:nvPr/>
        </p:nvSpPr>
        <p:spPr>
          <a:xfrm>
            <a:off x="3611422" y="5614021"/>
            <a:ext cx="1922668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What is the overall distribution of gene expression levels?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1BA2F0-1768-0ACB-6468-0223E2A4CC3D}"/>
              </a:ext>
            </a:extLst>
          </p:cNvPr>
          <p:cNvSpPr txBox="1"/>
          <p:nvPr/>
        </p:nvSpPr>
        <p:spPr>
          <a:xfrm>
            <a:off x="5951142" y="5628968"/>
            <a:ext cx="2142155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Compare the expression distributions across the three tissues.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94E580-0BD7-588F-F7E0-2B63FCFD439F}"/>
              </a:ext>
            </a:extLst>
          </p:cNvPr>
          <p:cNvSpPr txBox="1"/>
          <p:nvPr/>
        </p:nvSpPr>
        <p:spPr>
          <a:xfrm>
            <a:off x="762465" y="5608451"/>
            <a:ext cx="2436917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Do all samples have similar expression distributions, or does any sample look unusual?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681249E-F9DB-4DF1-E41A-74BFA0E40562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1980924" y="4794732"/>
            <a:ext cx="4442512" cy="813719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3F3402C-5916-46AE-AFBA-E9D001C01FF1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2554740" y="4698794"/>
            <a:ext cx="2018016" cy="915227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CF57699-038A-4688-F414-B64316B4B1C9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5019935" y="4701634"/>
            <a:ext cx="2002285" cy="92733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7958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D165B-F316-6B5A-4FB2-5008F5B08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437AD-7FB7-B1F6-348C-EDD1450F3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Box plot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274E07-B57C-318E-4EFE-4E2C8ABCFCB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662265" y="1347070"/>
            <a:ext cx="3867248" cy="951629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/>
          <a:p>
            <a:pPr indent="-128585">
              <a:spcBef>
                <a:spcPts val="563"/>
              </a:spcBef>
            </a:pPr>
            <a:r>
              <a:rPr lang="en-US" sz="1238" dirty="0">
                <a:latin typeface="Calibri" panose="020F0502020204030204" pitchFamily="34" charset="0"/>
                <a:cs typeface="Calibri" panose="020F0502020204030204" pitchFamily="34" charset="0"/>
              </a:rPr>
              <a:t>one discrete variable + one continuous variable</a:t>
            </a:r>
          </a:p>
          <a:p>
            <a:pPr indent="-128585">
              <a:spcBef>
                <a:spcPts val="563"/>
              </a:spcBef>
            </a:pPr>
            <a:r>
              <a:rPr lang="en-US" sz="1238" dirty="0">
                <a:latin typeface="Calibri" panose="020F0502020204030204" pitchFamily="34" charset="0"/>
                <a:cs typeface="Calibri" panose="020F0502020204030204" pitchFamily="34" charset="0"/>
              </a:rPr>
              <a:t>ggplot(expr, </a:t>
            </a:r>
            <a:r>
              <a:rPr lang="en-US" sz="1238" dirty="0" err="1">
                <a:latin typeface="Calibri" panose="020F0502020204030204" pitchFamily="34" charset="0"/>
                <a:cs typeface="Calibri" panose="020F0502020204030204" pitchFamily="34" charset="0"/>
              </a:rPr>
              <a:t>aes</a:t>
            </a:r>
            <a:r>
              <a:rPr lang="en-US" sz="1238" dirty="0">
                <a:latin typeface="Calibri" panose="020F0502020204030204" pitchFamily="34" charset="0"/>
                <a:cs typeface="Calibri" panose="020F0502020204030204" pitchFamily="34" charset="0"/>
              </a:rPr>
              <a:t>(x = sample, y = </a:t>
            </a:r>
            <a:r>
              <a:rPr lang="en-US" sz="1238" dirty="0" err="1">
                <a:latin typeface="Calibri" panose="020F0502020204030204" pitchFamily="34" charset="0"/>
                <a:cs typeface="Calibri" panose="020F0502020204030204" pitchFamily="34" charset="0"/>
              </a:rPr>
              <a:t>log_cpm</a:t>
            </a:r>
            <a:r>
              <a:rPr lang="en-US" sz="1238" dirty="0">
                <a:latin typeface="Calibri" panose="020F0502020204030204" pitchFamily="34" charset="0"/>
                <a:cs typeface="Calibri" panose="020F0502020204030204" pitchFamily="34" charset="0"/>
              </a:rPr>
              <a:t>, fill = tissue)) +  </a:t>
            </a:r>
            <a:r>
              <a:rPr lang="en-US" sz="1238" dirty="0" err="1">
                <a:latin typeface="Calibri" panose="020F0502020204030204" pitchFamily="34" charset="0"/>
                <a:cs typeface="Calibri" panose="020F0502020204030204" pitchFamily="34" charset="0"/>
              </a:rPr>
              <a:t>geom_boxplot</a:t>
            </a:r>
            <a:r>
              <a:rPr lang="en-US" sz="1238" dirty="0">
                <a:latin typeface="Calibri" panose="020F0502020204030204" pitchFamily="34" charset="0"/>
                <a:cs typeface="Calibri" panose="020F0502020204030204" pitchFamily="34" charset="0"/>
              </a:rPr>
              <a:t>() +  theme(</a:t>
            </a:r>
            <a:r>
              <a:rPr lang="en-US" sz="1238" dirty="0" err="1">
                <a:latin typeface="Calibri" panose="020F0502020204030204" pitchFamily="34" charset="0"/>
                <a:cs typeface="Calibri" panose="020F0502020204030204" pitchFamily="34" charset="0"/>
              </a:rPr>
              <a:t>axis.text.x</a:t>
            </a:r>
            <a:r>
              <a:rPr lang="en-US" sz="1238" dirty="0"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238" dirty="0" err="1">
                <a:latin typeface="Calibri" panose="020F0502020204030204" pitchFamily="34" charset="0"/>
                <a:cs typeface="Calibri" panose="020F0502020204030204" pitchFamily="34" charset="0"/>
              </a:rPr>
              <a:t>element_text</a:t>
            </a:r>
            <a:r>
              <a:rPr lang="en-US" sz="1238" dirty="0">
                <a:latin typeface="Calibri" panose="020F0502020204030204" pitchFamily="34" charset="0"/>
                <a:cs typeface="Calibri" panose="020F0502020204030204" pitchFamily="34" charset="0"/>
              </a:rPr>
              <a:t>(angle = 45, </a:t>
            </a:r>
            <a:r>
              <a:rPr lang="en-US" sz="1238" dirty="0" err="1">
                <a:latin typeface="Calibri" panose="020F0502020204030204" pitchFamily="34" charset="0"/>
                <a:cs typeface="Calibri" panose="020F0502020204030204" pitchFamily="34" charset="0"/>
              </a:rPr>
              <a:t>hjust</a:t>
            </a:r>
            <a:r>
              <a:rPr lang="en-US" sz="1238" dirty="0">
                <a:latin typeface="Calibri" panose="020F0502020204030204" pitchFamily="34" charset="0"/>
                <a:cs typeface="Calibri" panose="020F0502020204030204" pitchFamily="34" charset="0"/>
              </a:rPr>
              <a:t> = 1))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1D0684-22D0-9F12-5A0E-2ED70E396443}"/>
              </a:ext>
            </a:extLst>
          </p:cNvPr>
          <p:cNvSpPr txBox="1"/>
          <p:nvPr/>
        </p:nvSpPr>
        <p:spPr>
          <a:xfrm>
            <a:off x="2543011" y="5785246"/>
            <a:ext cx="4057977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Research Question: </a:t>
            </a:r>
          </a:p>
          <a:p>
            <a:r>
              <a:rPr lang="en-US" sz="1400" dirty="0"/>
              <a:t>How does the distribution of gene expression differ between samples?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28792A-0961-A1D6-0BFC-A85FB8C86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00" y="2298699"/>
            <a:ext cx="4699000" cy="335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852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C2DA5-4773-D7D9-3DD3-19D61D799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B705D-7820-9F37-B706-26C34DD92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Violin plot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386F9C-5399-0C50-0510-FE771AFC851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662265" y="1347071"/>
            <a:ext cx="3867248" cy="562218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/>
          <a:p>
            <a:pPr indent="-128585">
              <a:spcBef>
                <a:spcPts val="563"/>
              </a:spcBef>
            </a:pPr>
            <a:r>
              <a:rPr lang="en-US" sz="1238" dirty="0"/>
              <a:t>A combination of a box plot and a density plot</a:t>
            </a:r>
          </a:p>
          <a:p>
            <a:pPr indent="-128585">
              <a:spcBef>
                <a:spcPts val="563"/>
              </a:spcBef>
            </a:pPr>
            <a:r>
              <a:rPr lang="en-US" sz="1238" dirty="0"/>
              <a:t>ggplot(expr, </a:t>
            </a:r>
            <a:r>
              <a:rPr lang="en-US" sz="1238" dirty="0" err="1"/>
              <a:t>aes</a:t>
            </a:r>
            <a:r>
              <a:rPr lang="en-US" sz="1238" dirty="0"/>
              <a:t>(x = tissue, y = </a:t>
            </a:r>
            <a:r>
              <a:rPr lang="en-US" sz="1238" dirty="0" err="1"/>
              <a:t>log_cpm</a:t>
            </a:r>
            <a:r>
              <a:rPr lang="en-US" sz="1238" dirty="0"/>
              <a:t>, fill = tissue)) + </a:t>
            </a:r>
            <a:r>
              <a:rPr lang="en-US" sz="1238" dirty="0" err="1"/>
              <a:t>geom_violin</a:t>
            </a:r>
            <a:r>
              <a:rPr lang="en-US" sz="1238" dirty="0"/>
              <a:t>(trim = FALSE, alpha = 0.5)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BB21DA-BF33-5B38-7CED-451D14379D6E}"/>
              </a:ext>
            </a:extLst>
          </p:cNvPr>
          <p:cNvSpPr txBox="1"/>
          <p:nvPr/>
        </p:nvSpPr>
        <p:spPr>
          <a:xfrm>
            <a:off x="1398442" y="5697934"/>
            <a:ext cx="6347115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Research Question: </a:t>
            </a:r>
          </a:p>
          <a:p>
            <a:r>
              <a:rPr lang="en-US" sz="1400" dirty="0"/>
              <a:t>How does the distribution and variability of gene expression differ across tissues?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C4C91F-4765-B88E-74C0-12D134FEE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049" y="2002933"/>
            <a:ext cx="5041900" cy="360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116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CFFC6-45D0-F6D4-92BD-9BBF9910E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973" y="2275175"/>
            <a:ext cx="2263140" cy="1802326"/>
          </a:xfrm>
        </p:spPr>
        <p:txBody>
          <a:bodyPr vert="horz" lIns="51435" tIns="25718" rIns="51435" bIns="25718" rtlCol="0" anchor="b">
            <a:normAutofit/>
          </a:bodyPr>
          <a:lstStyle/>
          <a:p>
            <a:r>
              <a:rPr lang="en-US" sz="2700" dirty="0"/>
              <a:t>What questions do you have about this plot?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DF3288-9BDC-B50F-F38F-4BA63F73E0A0}"/>
              </a:ext>
            </a:extLst>
          </p:cNvPr>
          <p:cNvSpPr txBox="1"/>
          <p:nvPr/>
        </p:nvSpPr>
        <p:spPr>
          <a:xfrm>
            <a:off x="1392460" y="3176338"/>
            <a:ext cx="2201418" cy="1623632"/>
          </a:xfrm>
          <a:prstGeom prst="rect">
            <a:avLst/>
          </a:prstGeom>
        </p:spPr>
        <p:txBody>
          <a:bodyPr vert="horz" lIns="51435" tIns="25718" rIns="51435" bIns="25718" rtlCol="0" anchor="t">
            <a:normAutofit/>
          </a:bodyPr>
          <a:lstStyle/>
          <a:p>
            <a:pPr marL="192876" indent="-192876">
              <a:lnSpc>
                <a:spcPct val="90000"/>
              </a:lnSpc>
              <a:spcAft>
                <a:spcPts val="338"/>
              </a:spcAft>
              <a:buFont typeface="Arial" panose="020B0604020202020204" pitchFamily="34" charset="0"/>
              <a:buChar char="•"/>
            </a:pPr>
            <a:endParaRPr lang="en-US" sz="1238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B94FA4-5711-6FC4-9F9D-476E8793F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5397" y="1849428"/>
            <a:ext cx="5054630" cy="315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664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E57E3-9B89-9BB0-5419-801537383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3664" y="983236"/>
            <a:ext cx="6136673" cy="769846"/>
          </a:xfrm>
        </p:spPr>
        <p:txBody>
          <a:bodyPr vert="horz" lIns="51435" tIns="25718" rIns="51435" bIns="25718" rtlCol="0" anchor="ctr">
            <a:normAutofit/>
          </a:bodyPr>
          <a:lstStyle/>
          <a:p>
            <a:pPr algn="ctr"/>
            <a:r>
              <a:rPr lang="en-US" sz="2250" dirty="0"/>
              <a:t>Next step: box/</a:t>
            </a:r>
            <a:r>
              <a:rPr lang="en-US" sz="2400" dirty="0"/>
              <a:t>violin</a:t>
            </a:r>
            <a:r>
              <a:rPr lang="en-US" sz="2250" dirty="0"/>
              <a:t> plot to show the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85981F-5DC3-5F5D-653F-8E2414FB6B38}"/>
              </a:ext>
            </a:extLst>
          </p:cNvPr>
          <p:cNvSpPr txBox="1"/>
          <p:nvPr/>
        </p:nvSpPr>
        <p:spPr>
          <a:xfrm>
            <a:off x="2521458" y="5490426"/>
            <a:ext cx="41010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solidFill>
                  <a:schemeClr val="tx2">
                    <a:lumMod val="50000"/>
                    <a:lumOff val="50000"/>
                  </a:schemeClr>
                </a:solidFill>
              </a:rPr>
              <a:t>What is the problem of the violin or box plot?</a:t>
            </a:r>
            <a:endParaRPr lang="en-US" sz="1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0BD26B-3475-CE9C-4422-A72EED8D8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900" y="2287525"/>
            <a:ext cx="2916503" cy="29165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C1DA9D-5D80-207A-7F60-B46687B6A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8596" y="2287525"/>
            <a:ext cx="2916504" cy="291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773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4595140-408F-233F-3E13-C90FEE6DC23F}"/>
              </a:ext>
            </a:extLst>
          </p:cNvPr>
          <p:cNvSpPr txBox="1">
            <a:spLocks/>
          </p:cNvSpPr>
          <p:nvPr/>
        </p:nvSpPr>
        <p:spPr>
          <a:xfrm>
            <a:off x="1503664" y="983236"/>
            <a:ext cx="6136673" cy="769846"/>
          </a:xfrm>
          <a:prstGeom prst="rect">
            <a:avLst/>
          </a:prstGeom>
        </p:spPr>
        <p:txBody>
          <a:bodyPr vert="horz" lIns="51435" tIns="25718" rIns="51435" bIns="25718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50" dirty="0"/>
              <a:t>Show raw data points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16AF82-BBDA-B281-D1EF-2E0BF22E7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898" y="2287525"/>
            <a:ext cx="2916505" cy="29165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8ACE93D-8F76-84A7-2E52-C821A4DAC9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8599" y="2287525"/>
            <a:ext cx="2916505" cy="291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646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C6CC6-88F8-AB9F-515E-1A024E481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5E85562-545E-9F70-A3A3-D25C4AFC4A0D}"/>
              </a:ext>
            </a:extLst>
          </p:cNvPr>
          <p:cNvSpPr txBox="1">
            <a:spLocks/>
          </p:cNvSpPr>
          <p:nvPr/>
        </p:nvSpPr>
        <p:spPr>
          <a:xfrm>
            <a:off x="1503664" y="983236"/>
            <a:ext cx="6136673" cy="769846"/>
          </a:xfrm>
          <a:prstGeom prst="rect">
            <a:avLst/>
          </a:prstGeom>
        </p:spPr>
        <p:txBody>
          <a:bodyPr vert="horz" lIns="51435" tIns="25718" rIns="51435" bIns="25718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50" dirty="0"/>
              <a:t>Combined…?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4684A7-55FC-8B15-33A0-B88956751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300" y="1753082"/>
            <a:ext cx="483870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3103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6F959-9B7F-555A-5F60-549BB9CA7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0170" y="1551804"/>
            <a:ext cx="2813495" cy="771525"/>
          </a:xfrm>
        </p:spPr>
        <p:txBody>
          <a:bodyPr vert="horz" lIns="51435" tIns="25718" rIns="51435" bIns="25718" rtlCol="0" anchor="ctr">
            <a:normAutofit/>
          </a:bodyPr>
          <a:lstStyle/>
          <a:p>
            <a:pPr algn="ctr"/>
            <a:r>
              <a:rPr lang="en-US" sz="2400" dirty="0"/>
              <a:t>Before and after </a:t>
            </a:r>
            <a:r>
              <a:rPr lang="en-CA" sz="2400" dirty="0"/>
              <a:t>💅🏽</a:t>
            </a:r>
            <a:endParaRPr lang="en-US" sz="2400" dirty="0"/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3EC6F150-80ED-B3D4-D3AE-DDEBD2123C6D}"/>
              </a:ext>
            </a:extLst>
          </p:cNvPr>
          <p:cNvSpPr/>
          <p:nvPr/>
        </p:nvSpPr>
        <p:spPr>
          <a:xfrm>
            <a:off x="4226242" y="3649261"/>
            <a:ext cx="572072" cy="2139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0F5530-6D5A-6EB8-C200-CBE407252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97" y="2488916"/>
            <a:ext cx="3713103" cy="23206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B93BCC-BB35-430E-E931-453B17B591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9788" y="2425415"/>
            <a:ext cx="4023815" cy="251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945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1C594-315B-EC44-ECA0-C7B14EDAA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E6C8F-2498-4253-0ECB-B11181899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487" y="1754091"/>
            <a:ext cx="5913311" cy="2287429"/>
          </a:xfrm>
        </p:spPr>
        <p:txBody>
          <a:bodyPr vert="horz" lIns="51435" tIns="25718" rIns="51435" bIns="25718" rtlCol="0" anchor="b">
            <a:normAutofit/>
          </a:bodyPr>
          <a:lstStyle/>
          <a:p>
            <a:r>
              <a:rPr lang="en-US" sz="3713" dirty="0"/>
              <a:t>Data Transformation and Advanced Customization</a:t>
            </a:r>
          </a:p>
        </p:txBody>
      </p:sp>
      <p:pic>
        <p:nvPicPr>
          <p:cNvPr id="6" name="Graphic 5" descr="Three star symbols">
            <a:extLst>
              <a:ext uri="{FF2B5EF4-FFF2-40B4-BE49-F238E27FC236}">
                <a16:creationId xmlns:a16="http://schemas.microsoft.com/office/drawing/2014/main" id="{32EAF23C-504A-075A-A8FF-667217DC18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3032276">
            <a:off x="615349" y="2150302"/>
            <a:ext cx="1061053" cy="11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112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43777-B821-0A87-FE77-4F36338BE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9AD53-2EBB-EC4D-5B15-C9582B507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Transformation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277555C-62BE-D919-64BC-FFBF1FBDCE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8410654"/>
              </p:ext>
            </p:extLst>
          </p:nvPr>
        </p:nvGraphicFramePr>
        <p:xfrm>
          <a:off x="565150" y="2016760"/>
          <a:ext cx="8013700" cy="3446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8967">
                  <a:extLst>
                    <a:ext uri="{9D8B030D-6E8A-4147-A177-3AD203B41FA5}">
                      <a16:colId xmlns:a16="http://schemas.microsoft.com/office/drawing/2014/main" val="3908454120"/>
                    </a:ext>
                  </a:extLst>
                </a:gridCol>
                <a:gridCol w="4438633">
                  <a:extLst>
                    <a:ext uri="{9D8B030D-6E8A-4147-A177-3AD203B41FA5}">
                      <a16:colId xmlns:a16="http://schemas.microsoft.com/office/drawing/2014/main" val="2898789005"/>
                    </a:ext>
                  </a:extLst>
                </a:gridCol>
                <a:gridCol w="1816100">
                  <a:extLst>
                    <a:ext uri="{9D8B030D-6E8A-4147-A177-3AD203B41FA5}">
                      <a16:colId xmlns:a16="http://schemas.microsoft.com/office/drawing/2014/main" val="2012736281"/>
                    </a:ext>
                  </a:extLst>
                </a:gridCol>
              </a:tblGrid>
              <a:tr h="30364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Why?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Functions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75969452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lang="en-US" sz="1400" dirty="0"/>
                        <a:t>Data reshaping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Useful for faceting or grouping variables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tidyr</a:t>
                      </a:r>
                      <a:r>
                        <a:rPr lang="en-US" sz="1400" dirty="0"/>
                        <a:t>::</a:t>
                      </a:r>
                      <a:r>
                        <a:rPr lang="en-US" sz="1400" dirty="0" err="1"/>
                        <a:t>pivot_longer</a:t>
                      </a:r>
                      <a:r>
                        <a:rPr lang="en-US" sz="1400" dirty="0"/>
                        <a:t>()</a:t>
                      </a:r>
                    </a:p>
                    <a:p>
                      <a:r>
                        <a:rPr lang="en-US" sz="1400" dirty="0" err="1"/>
                        <a:t>tidyr</a:t>
                      </a:r>
                      <a:r>
                        <a:rPr lang="en-US" sz="1400" dirty="0"/>
                        <a:t>::</a:t>
                      </a:r>
                      <a:r>
                        <a:rPr lang="en-US" sz="1400" dirty="0" err="1"/>
                        <a:t>pivot_wider</a:t>
                      </a:r>
                      <a:r>
                        <a:rPr lang="en-US" sz="1400" dirty="0"/>
                        <a:t>()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38519049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lang="en-US" sz="1400" dirty="0"/>
                        <a:t>Filtering rows and select columns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To focus on relevant data for a clearer visualization.</a:t>
                      </a:r>
                    </a:p>
                    <a:p>
                      <a:r>
                        <a:rPr lang="en-US" sz="1400" dirty="0"/>
                        <a:t>To remove noise or unnecessary categories.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dplyr</a:t>
                      </a:r>
                      <a:r>
                        <a:rPr lang="en-US" sz="1400" dirty="0"/>
                        <a:t>::filter()</a:t>
                      </a:r>
                    </a:p>
                    <a:p>
                      <a:r>
                        <a:rPr lang="en-US" sz="1400" dirty="0" err="1"/>
                        <a:t>dplyr</a:t>
                      </a:r>
                      <a:r>
                        <a:rPr lang="en-US" sz="1400" dirty="0"/>
                        <a:t>::select()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3691104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lang="en-US" sz="1400" dirty="0"/>
                        <a:t>Aggregation and summarization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Transforming raw data into summarized statistics for better visualization.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dplyr</a:t>
                      </a:r>
                      <a:r>
                        <a:rPr lang="en-US" sz="1400" dirty="0"/>
                        <a:t>::</a:t>
                      </a:r>
                      <a:r>
                        <a:rPr lang="en-US" sz="1400" dirty="0" err="1"/>
                        <a:t>group_by</a:t>
                      </a:r>
                      <a:r>
                        <a:rPr lang="en-US" sz="1400" dirty="0"/>
                        <a:t>()</a:t>
                      </a:r>
                    </a:p>
                    <a:p>
                      <a:r>
                        <a:rPr lang="en-US" sz="1400" dirty="0" err="1"/>
                        <a:t>dplyr</a:t>
                      </a:r>
                      <a:r>
                        <a:rPr lang="en-US" sz="1400" dirty="0"/>
                        <a:t>::summarize()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66308911"/>
                  </a:ext>
                </a:extLst>
              </a:tr>
              <a:tr h="948362">
                <a:tc>
                  <a:txBody>
                    <a:bodyPr/>
                    <a:lstStyle/>
                    <a:p>
                      <a:r>
                        <a:rPr lang="en-US" sz="1400" dirty="0"/>
                        <a:t>Normalization and scaling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Adjusting numerical values to ensure fair comparisons.</a:t>
                      </a:r>
                    </a:p>
                    <a:p>
                      <a:r>
                        <a:rPr lang="en-US" sz="1400" dirty="0"/>
                        <a:t>  Log transformation</a:t>
                      </a:r>
                    </a:p>
                    <a:p>
                      <a:r>
                        <a:rPr lang="en-US" sz="1400" dirty="0"/>
                        <a:t>  Min-max scaling</a:t>
                      </a:r>
                    </a:p>
                    <a:p>
                      <a:r>
                        <a:rPr lang="en-US" sz="1400" dirty="0"/>
                        <a:t>  Z-score standardization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dplyr</a:t>
                      </a:r>
                      <a:r>
                        <a:rPr lang="en-US" sz="1400" dirty="0"/>
                        <a:t>::mutate()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scale_x_log10()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23605085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Binning (Discretization)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Dividing a continuous variable into discrete categories to visualize distributions more clearly </a:t>
                      </a:r>
                      <a:r>
                        <a:rPr lang="en-US" sz="1400" b="0" dirty="0"/>
                        <a:t>(e.g., in histograms or heatmaps).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dplyr</a:t>
                      </a:r>
                      <a:r>
                        <a:rPr lang="en-US" sz="1400" dirty="0"/>
                        <a:t>::mutate()</a:t>
                      </a:r>
                    </a:p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83061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05991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9A6AD-0F4C-4770-4B7A-7FD99B5FC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Transformation – log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79423-5881-D555-8066-813C1B65C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300" y="2125267"/>
            <a:ext cx="6399213" cy="578834"/>
          </a:xfrm>
        </p:spPr>
        <p:txBody>
          <a:bodyPr>
            <a:normAutofit/>
          </a:bodyPr>
          <a:lstStyle/>
          <a:p>
            <a:r>
              <a:rPr lang="en-US" sz="1500" dirty="0"/>
              <a:t>Research</a:t>
            </a:r>
            <a:r>
              <a:rPr lang="zh-CN" altLang="en-US" sz="1500" dirty="0"/>
              <a:t> </a:t>
            </a:r>
            <a:r>
              <a:rPr lang="en-US" altLang="zh-CN" sz="1500" dirty="0"/>
              <a:t>Question: </a:t>
            </a:r>
            <a:r>
              <a:rPr lang="en-US" sz="1500" dirty="0"/>
              <a:t>How does a gene’s average expression level relate to how much it changes after SARS-CoV-2 infection, across different tissues?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A997FC-5872-9BE6-9659-8F2CF81BDAF3}"/>
              </a:ext>
            </a:extLst>
          </p:cNvPr>
          <p:cNvSpPr txBox="1"/>
          <p:nvPr/>
        </p:nvSpPr>
        <p:spPr>
          <a:xfrm>
            <a:off x="4793009" y="2704101"/>
            <a:ext cx="2513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+ scale_x_log10()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B81565-95E1-7365-F3CA-01CDE99FE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25" y="3000281"/>
            <a:ext cx="3691581" cy="23072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161DC6-31C4-12F8-F983-5AC794A094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000281"/>
            <a:ext cx="3691581" cy="2307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4970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D3CDA-23E1-8A8B-5C48-5DF9F1351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faceting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6D6064-A6BB-08E8-098D-874466842A36}"/>
              </a:ext>
            </a:extLst>
          </p:cNvPr>
          <p:cNvSpPr txBox="1"/>
          <p:nvPr/>
        </p:nvSpPr>
        <p:spPr>
          <a:xfrm>
            <a:off x="408516" y="2375837"/>
            <a:ext cx="199882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Facet_grid</a:t>
            </a:r>
            <a:r>
              <a:rPr lang="en-US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()</a:t>
            </a:r>
          </a:p>
          <a:p>
            <a:r>
              <a:rPr lang="en-US" sz="1400" dirty="0"/>
              <a:t>create a grid of graphs, by rows and columns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44A1D0-A063-32A7-C349-381964D5A3CD}"/>
              </a:ext>
            </a:extLst>
          </p:cNvPr>
          <p:cNvSpPr txBox="1"/>
          <p:nvPr/>
        </p:nvSpPr>
        <p:spPr>
          <a:xfrm>
            <a:off x="408516" y="4787021"/>
            <a:ext cx="19988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Facet_wrap</a:t>
            </a:r>
            <a:r>
              <a:rPr lang="en-US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()</a:t>
            </a:r>
          </a:p>
          <a:p>
            <a:r>
              <a:rPr lang="en-US" sz="1400" dirty="0"/>
              <a:t>create small multiples by “wrapping” a series of plots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4B775C-D1C5-046C-2ADD-AB16471E5A9D}"/>
              </a:ext>
            </a:extLst>
          </p:cNvPr>
          <p:cNvSpPr txBox="1"/>
          <p:nvPr/>
        </p:nvSpPr>
        <p:spPr>
          <a:xfrm>
            <a:off x="5757333" y="4325357"/>
            <a:ext cx="2635553" cy="19389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en-US" sz="1200" dirty="0"/>
          </a:p>
          <a:p>
            <a:r>
              <a:rPr lang="en-US" sz="1200" dirty="0"/>
              <a:t>Choose grid:</a:t>
            </a:r>
          </a:p>
          <a:p>
            <a:pPr marL="160731" indent="-160731">
              <a:buFont typeface="Arial" panose="020B0604020202020204" pitchFamily="34" charset="0"/>
              <a:buChar char="•"/>
            </a:pPr>
            <a:r>
              <a:rPr lang="en-US" sz="1200" dirty="0"/>
              <a:t>Compare categorical variables</a:t>
            </a:r>
            <a:r>
              <a:rPr lang="zh-CN" altLang="en-US" sz="1200" dirty="0"/>
              <a:t> </a:t>
            </a:r>
            <a:r>
              <a:rPr lang="en-US" altLang="zh-CN" sz="1200" dirty="0"/>
              <a:t>systematically</a:t>
            </a:r>
          </a:p>
          <a:p>
            <a:pPr marL="160731" indent="-160731">
              <a:buFont typeface="Arial" panose="020B0604020202020204" pitchFamily="34" charset="0"/>
              <a:buChar char="•"/>
            </a:pPr>
            <a:r>
              <a:rPr lang="en-US" sz="1200" dirty="0"/>
              <a:t>The number of facet levels is not too large</a:t>
            </a:r>
          </a:p>
          <a:p>
            <a:pPr marL="160731" indent="-160731">
              <a:buFont typeface="Arial" panose="020B0604020202020204" pitchFamily="34" charset="0"/>
              <a:buChar char="•"/>
            </a:pPr>
            <a:endParaRPr lang="en-US" sz="1200" dirty="0"/>
          </a:p>
          <a:p>
            <a:r>
              <a:rPr lang="en-US" sz="1200" dirty="0"/>
              <a:t>Choose wrap: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200" dirty="0"/>
              <a:t>Flexible and space-efficient</a:t>
            </a:r>
          </a:p>
          <a:p>
            <a:pPr marL="160731" indent="-160731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E2B9BC-BCDE-8189-9AC8-8FD1B3995192}"/>
              </a:ext>
            </a:extLst>
          </p:cNvPr>
          <p:cNvSpPr txBox="1"/>
          <p:nvPr/>
        </p:nvSpPr>
        <p:spPr>
          <a:xfrm>
            <a:off x="2407344" y="1503553"/>
            <a:ext cx="2513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+ </a:t>
            </a:r>
            <a:r>
              <a:rPr lang="en-US" sz="12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facet_grid</a:t>
            </a:r>
            <a:r>
              <a:rPr lang="en-US" sz="1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(. ~ tissue)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4AF778-BD45-CF9B-78CC-40E3D30362DF}"/>
              </a:ext>
            </a:extLst>
          </p:cNvPr>
          <p:cNvSpPr txBox="1"/>
          <p:nvPr/>
        </p:nvSpPr>
        <p:spPr>
          <a:xfrm>
            <a:off x="5686432" y="1503552"/>
            <a:ext cx="2513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+ </a:t>
            </a:r>
            <a:r>
              <a:rPr lang="en-US" sz="12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facet_grid</a:t>
            </a:r>
            <a:r>
              <a:rPr lang="en-US" sz="1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(tissue ~ .)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0C5CFE-68BB-AB7C-10E0-2C94BF22F4CD}"/>
              </a:ext>
            </a:extLst>
          </p:cNvPr>
          <p:cNvSpPr txBox="1"/>
          <p:nvPr/>
        </p:nvSpPr>
        <p:spPr>
          <a:xfrm>
            <a:off x="2407344" y="4325357"/>
            <a:ext cx="2513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+ </a:t>
            </a:r>
            <a:r>
              <a:rPr lang="en-US" sz="12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facet_wrap</a:t>
            </a:r>
            <a:r>
              <a:rPr lang="en-US" sz="1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(~tissue)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971CA1E-A049-CB25-F717-F3F2F1CA7C30}"/>
              </a:ext>
            </a:extLst>
          </p:cNvPr>
          <p:cNvCxnSpPr>
            <a:cxnSpLocks/>
          </p:cNvCxnSpPr>
          <p:nvPr/>
        </p:nvCxnSpPr>
        <p:spPr>
          <a:xfrm flipV="1">
            <a:off x="751114" y="3977732"/>
            <a:ext cx="7641772" cy="190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2B4A2AB-ECFA-2665-BA90-037B52D4F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364" y="1855103"/>
            <a:ext cx="3252251" cy="20071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607909-5731-FD4E-08BA-76E3A5ADB3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6432" y="1855103"/>
            <a:ext cx="3252251" cy="20071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4850AC-C234-7C1D-D159-71DF6F2DDD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3364" y="4663882"/>
            <a:ext cx="3252252" cy="2007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690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3C3FF-E5D3-A34A-4CF1-24D756C25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Aesthetic customizations – color palettes</a:t>
            </a:r>
          </a:p>
        </p:txBody>
      </p:sp>
      <p:pic>
        <p:nvPicPr>
          <p:cNvPr id="4" name="Content Placeholder 5" descr="A chart of different colors&#10;&#10;Description automatically generated">
            <a:extLst>
              <a:ext uri="{FF2B5EF4-FFF2-40B4-BE49-F238E27FC236}">
                <a16:creationId xmlns:a16="http://schemas.microsoft.com/office/drawing/2014/main" id="{3C1A3C27-3E41-E631-A0F6-382E2872BD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00050" y="2906543"/>
            <a:ext cx="5857875" cy="3273519"/>
          </a:xfr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8A68A1D-A4D6-7AF3-5998-7EFFFD80B80A}"/>
              </a:ext>
            </a:extLst>
          </p:cNvPr>
          <p:cNvSpPr/>
          <p:nvPr/>
        </p:nvSpPr>
        <p:spPr>
          <a:xfrm>
            <a:off x="400050" y="2205685"/>
            <a:ext cx="2110321" cy="605936"/>
          </a:xfrm>
          <a:prstGeom prst="rect">
            <a:avLst/>
          </a:prstGeom>
          <a:noFill/>
        </p:spPr>
        <p:txBody>
          <a:bodyPr wrap="none" lIns="51435" tIns="25718" rIns="51435" bIns="25718">
            <a:spAutoFit/>
          </a:bodyPr>
          <a:lstStyle/>
          <a:p>
            <a:pPr algn="ctr"/>
            <a:r>
              <a:rPr lang="en-US" sz="36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colorspace</a:t>
            </a:r>
            <a:endParaRPr lang="en-US" sz="36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F9405F-1B11-12E4-4226-57004DE9CC87}"/>
              </a:ext>
            </a:extLst>
          </p:cNvPr>
          <p:cNvSpPr txBox="1"/>
          <p:nvPr/>
        </p:nvSpPr>
        <p:spPr>
          <a:xfrm>
            <a:off x="6344797" y="2928040"/>
            <a:ext cx="265632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Qualitative</a:t>
            </a:r>
            <a:r>
              <a:rPr lang="en-US" sz="1400" dirty="0"/>
              <a:t>: categorical variables</a:t>
            </a:r>
          </a:p>
          <a:p>
            <a:r>
              <a:rPr lang="en-US" sz="1400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-apple-system"/>
              </a:rPr>
              <a:t>qualitative_hcl</a:t>
            </a:r>
            <a:r>
              <a:rPr lang="en-US" sz="1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-apple-system"/>
              </a:rPr>
              <a:t>()</a:t>
            </a:r>
          </a:p>
          <a:p>
            <a:endParaRPr lang="en-US" sz="1400" dirty="0"/>
          </a:p>
          <a:p>
            <a:r>
              <a:rPr lang="en-US" sz="1400" b="1" dirty="0"/>
              <a:t>Sequential</a:t>
            </a:r>
            <a:r>
              <a:rPr lang="en-US" sz="1400" dirty="0"/>
              <a:t>: </a:t>
            </a:r>
            <a:r>
              <a:rPr lang="en-US" sz="1400" dirty="0">
                <a:solidFill>
                  <a:srgbClr val="202124"/>
                </a:solidFill>
                <a:latin typeface="-apple-system"/>
              </a:rPr>
              <a:t>ordered/continuous numerical variables</a:t>
            </a:r>
          </a:p>
          <a:p>
            <a:r>
              <a:rPr lang="en-US" sz="1400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-apple-system"/>
              </a:rPr>
              <a:t>sequential_hcl</a:t>
            </a:r>
            <a:r>
              <a:rPr lang="en-US" sz="1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-apple-system"/>
              </a:rPr>
              <a:t>()</a:t>
            </a:r>
          </a:p>
          <a:p>
            <a:endParaRPr lang="en-US" sz="1400" dirty="0">
              <a:solidFill>
                <a:srgbClr val="202124"/>
              </a:solidFill>
              <a:latin typeface="-apple-system"/>
            </a:endParaRPr>
          </a:p>
          <a:p>
            <a:r>
              <a:rPr lang="en-US" sz="1400" b="1" dirty="0">
                <a:solidFill>
                  <a:srgbClr val="202124"/>
                </a:solidFill>
                <a:latin typeface="-apple-system"/>
              </a:rPr>
              <a:t>Diverging</a:t>
            </a:r>
            <a:r>
              <a:rPr lang="en-US" sz="1400" dirty="0">
                <a:solidFill>
                  <a:srgbClr val="202124"/>
                </a:solidFill>
                <a:latin typeface="-apple-system"/>
              </a:rPr>
              <a:t>: ordered/continuous numerical variables</a:t>
            </a:r>
          </a:p>
          <a:p>
            <a:r>
              <a:rPr lang="en-US" sz="1400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-apple-system"/>
              </a:rPr>
              <a:t>diverging_hcl</a:t>
            </a:r>
            <a:r>
              <a:rPr lang="en-US" sz="1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-apple-system"/>
              </a:rPr>
              <a:t>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A87466-0573-1D1C-1593-8C6EA9417576}"/>
              </a:ext>
            </a:extLst>
          </p:cNvPr>
          <p:cNvSpPr txBox="1"/>
          <p:nvPr/>
        </p:nvSpPr>
        <p:spPr>
          <a:xfrm>
            <a:off x="6344797" y="5441398"/>
            <a:ext cx="21896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Don’t use bidirectional (diverging) color scales for unidirectional data!</a:t>
            </a:r>
          </a:p>
        </p:txBody>
      </p:sp>
    </p:spTree>
    <p:extLst>
      <p:ext uri="{BB962C8B-B14F-4D97-AF65-F5344CB8AC3E}">
        <p14:creationId xmlns:p14="http://schemas.microsoft.com/office/powerpoint/2010/main" val="36609337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23A4E-E187-9218-ED7E-7795CFA39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6F21A-0A96-6902-AABF-AFEEAD0D8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Colorblindness-friendly palettes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18C481-9FB6-1446-38B9-FDCABA5C04B2}"/>
              </a:ext>
            </a:extLst>
          </p:cNvPr>
          <p:cNvSpPr txBox="1"/>
          <p:nvPr/>
        </p:nvSpPr>
        <p:spPr>
          <a:xfrm>
            <a:off x="95250" y="6373343"/>
            <a:ext cx="70485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https://davidmathlogic.com/colorblind/#%23D81B60-%231E88E5-%23FFC107-%23004D40</a:t>
            </a:r>
          </a:p>
          <a:p>
            <a:r>
              <a:rPr lang="en-US" sz="1100" b="1" dirty="0"/>
              <a:t>https://cran.r-project.org/web/packages/khroma/vignettes/tol.html</a:t>
            </a:r>
            <a:endParaRPr lang="en-US" sz="1100" b="1" dirty="0">
              <a:solidFill>
                <a:schemeClr val="tx2">
                  <a:lumMod val="50000"/>
                  <a:lumOff val="50000"/>
                </a:schemeClr>
              </a:solidFill>
              <a:latin typeface="-apple-system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C1499A-5D78-714E-3096-1570B55DF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" y="1608849"/>
            <a:ext cx="8858250" cy="23223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FA68F16-E973-5036-19C1-29385CA9C3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1665" y="4018043"/>
            <a:ext cx="3305420" cy="2313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2876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CFE7B-9924-F2FF-F4A0-B56082FB8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to use </a:t>
            </a:r>
            <a:r>
              <a:rPr lang="en-US" dirty="0" err="1"/>
              <a:t>colorspace</a:t>
            </a:r>
            <a:r>
              <a:rPr lang="en-US" dirty="0"/>
              <a:t> in ggplot2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33E5FBA1-62E6-66FB-CE87-54AC628AA8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6363" y="3429000"/>
            <a:ext cx="8411274" cy="1691787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399F4F-03AC-EE09-F640-C4CF269A0664}"/>
              </a:ext>
            </a:extLst>
          </p:cNvPr>
          <p:cNvSpPr/>
          <p:nvPr/>
        </p:nvSpPr>
        <p:spPr>
          <a:xfrm>
            <a:off x="1032641" y="2603601"/>
            <a:ext cx="7078717" cy="482825"/>
          </a:xfrm>
          <a:prstGeom prst="rect">
            <a:avLst/>
          </a:prstGeom>
          <a:noFill/>
        </p:spPr>
        <p:txBody>
          <a:bodyPr wrap="square" lIns="51435" tIns="25718" rIns="51435" bIns="25718">
            <a:spAutoFit/>
          </a:bodyPr>
          <a:lstStyle/>
          <a:p>
            <a:pPr algn="ctr"/>
            <a:r>
              <a:rPr 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FMono-Regular"/>
              </a:rPr>
              <a:t>scale_&lt;aesthetic&gt;_&lt;datatype&gt;_&lt;</a:t>
            </a:r>
            <a:r>
              <a:rPr lang="en-US" sz="28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FMono-Regular"/>
              </a:rPr>
              <a:t>colorscale</a:t>
            </a:r>
            <a:r>
              <a:rPr 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FMono-Regular"/>
              </a:rPr>
              <a:t>&gt;()</a:t>
            </a:r>
            <a:endParaRPr lang="en-US" sz="28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923883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graph of different colors&#10;&#10;AI-generated content may be incorrect.">
            <a:extLst>
              <a:ext uri="{FF2B5EF4-FFF2-40B4-BE49-F238E27FC236}">
                <a16:creationId xmlns:a16="http://schemas.microsoft.com/office/drawing/2014/main" id="{5C70CA19-53E0-D075-A0FC-8B4AB93A4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545" y="4086225"/>
            <a:ext cx="3914447" cy="24285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927EA3-2807-919D-EDFD-62A70B03E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Colorspace</a:t>
            </a:r>
            <a:r>
              <a:rPr lang="en-US" dirty="0"/>
              <a:t> examples</a:t>
            </a:r>
          </a:p>
        </p:txBody>
      </p:sp>
      <p:pic>
        <p:nvPicPr>
          <p:cNvPr id="4" name="Picture 3" descr="A graph showing different colors&#10;&#10;AI-generated content may be incorrect.">
            <a:extLst>
              <a:ext uri="{FF2B5EF4-FFF2-40B4-BE49-F238E27FC236}">
                <a16:creationId xmlns:a16="http://schemas.microsoft.com/office/drawing/2014/main" id="{FB826AE9-8612-1968-0570-E82FBEA1EE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681" y="1427169"/>
            <a:ext cx="3511603" cy="2630481"/>
          </a:xfrm>
          <a:prstGeom prst="rect">
            <a:avLst/>
          </a:prstGeom>
        </p:spPr>
      </p:pic>
      <p:pic>
        <p:nvPicPr>
          <p:cNvPr id="13" name="Picture 12" descr="A graph with blue and white text&#10;&#10;AI-generated content may be incorrect.">
            <a:extLst>
              <a:ext uri="{FF2B5EF4-FFF2-40B4-BE49-F238E27FC236}">
                <a16:creationId xmlns:a16="http://schemas.microsoft.com/office/drawing/2014/main" id="{BC50CB09-B9CC-B692-A586-3688442253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2284" y="1522094"/>
            <a:ext cx="3511603" cy="2499361"/>
          </a:xfrm>
          <a:prstGeom prst="rect">
            <a:avLst/>
          </a:prstGeom>
        </p:spPr>
      </p:pic>
      <p:pic>
        <p:nvPicPr>
          <p:cNvPr id="17" name="Picture 16" descr="A close-up of a red and yellow circle&#10;&#10;AI-generated content may be incorrect.">
            <a:extLst>
              <a:ext uri="{FF2B5EF4-FFF2-40B4-BE49-F238E27FC236}">
                <a16:creationId xmlns:a16="http://schemas.microsoft.com/office/drawing/2014/main" id="{4BCC8838-5230-B626-D46B-0D6E31837B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942" y="4105275"/>
            <a:ext cx="3511603" cy="2569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9499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map of different colored squares&#10;&#10;AI-generated content may be incorrect.">
            <a:extLst>
              <a:ext uri="{FF2B5EF4-FFF2-40B4-BE49-F238E27FC236}">
                <a16:creationId xmlns:a16="http://schemas.microsoft.com/office/drawing/2014/main" id="{620A4C14-FE28-99C5-4EF3-3F570AFBD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04" y="3429000"/>
            <a:ext cx="4391796" cy="28387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196682-957D-BC28-139F-719A78B7F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dirty="0"/>
              <a:t>How to choose diverging and sequential color scales?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719AE-44E2-F46C-0E47-F3072F8D7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4488" y="1779270"/>
            <a:ext cx="6500812" cy="14862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diverging scales IF…</a:t>
            </a:r>
          </a:p>
          <a:p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…there’s a </a:t>
            </a:r>
            <a:r>
              <a:rPr lang="en-US" sz="14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meaningful middle point</a:t>
            </a:r>
          </a:p>
          <a:p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…you want to </a:t>
            </a:r>
            <a:r>
              <a:rPr lang="en-US" sz="14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emphasize the extremes</a:t>
            </a:r>
          </a:p>
          <a:p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…you want to let readers </a:t>
            </a:r>
            <a:r>
              <a:rPr lang="en-US" sz="14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see more differences </a:t>
            </a: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the data</a:t>
            </a:r>
          </a:p>
          <a:p>
            <a:endParaRPr lang="en-US" sz="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C51DCE-68C6-754C-10A3-C985789A330C}"/>
              </a:ext>
            </a:extLst>
          </p:cNvPr>
          <p:cNvSpPr txBox="1"/>
          <p:nvPr/>
        </p:nvSpPr>
        <p:spPr>
          <a:xfrm>
            <a:off x="0" y="6518381"/>
            <a:ext cx="52061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https://</a:t>
            </a:r>
            <a:r>
              <a:rPr lang="en-US" sz="1050" dirty="0" err="1"/>
              <a:t>blog.datawrapper.de</a:t>
            </a:r>
            <a:r>
              <a:rPr lang="en-US" sz="1050" dirty="0"/>
              <a:t>/diverging-vs-sequential-color-scales/</a:t>
            </a:r>
          </a:p>
        </p:txBody>
      </p:sp>
      <p:pic>
        <p:nvPicPr>
          <p:cNvPr id="8" name="Picture 7" descr="A map of different colored squares&#10;&#10;AI-generated content may be incorrect.">
            <a:extLst>
              <a:ext uri="{FF2B5EF4-FFF2-40B4-BE49-F238E27FC236}">
                <a16:creationId xmlns:a16="http://schemas.microsoft.com/office/drawing/2014/main" id="{FA9F9236-2C18-018E-823D-B47294D86E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8540" y="3429001"/>
            <a:ext cx="4355351" cy="2838755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DFA82C53-8F80-7663-716E-C2E384BB0E8D}"/>
              </a:ext>
            </a:extLst>
          </p:cNvPr>
          <p:cNvSpPr/>
          <p:nvPr/>
        </p:nvSpPr>
        <p:spPr>
          <a:xfrm>
            <a:off x="2160102" y="3717817"/>
            <a:ext cx="432000" cy="432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E23D4A9-D875-58CA-DB15-CDA250479122}"/>
              </a:ext>
            </a:extLst>
          </p:cNvPr>
          <p:cNvSpPr/>
          <p:nvPr/>
        </p:nvSpPr>
        <p:spPr>
          <a:xfrm>
            <a:off x="1973596" y="4333651"/>
            <a:ext cx="373011" cy="37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83B2C3C-E0EF-BB7E-29AD-F2B59FA0E83E}"/>
              </a:ext>
            </a:extLst>
          </p:cNvPr>
          <p:cNvSpPr/>
          <p:nvPr/>
        </p:nvSpPr>
        <p:spPr>
          <a:xfrm>
            <a:off x="6600825" y="3698767"/>
            <a:ext cx="432000" cy="432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BD07533-25AE-514A-7DB1-44E8123F6036}"/>
              </a:ext>
            </a:extLst>
          </p:cNvPr>
          <p:cNvSpPr/>
          <p:nvPr/>
        </p:nvSpPr>
        <p:spPr>
          <a:xfrm>
            <a:off x="6414319" y="4321218"/>
            <a:ext cx="373011" cy="37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</p:spTree>
    <p:extLst>
      <p:ext uri="{BB962C8B-B14F-4D97-AF65-F5344CB8AC3E}">
        <p14:creationId xmlns:p14="http://schemas.microsoft.com/office/powerpoint/2010/main" val="38857708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1FDB3-D868-BFEE-6C84-F5E9F9A45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Select the appropriate color palettes for heatmaps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2872AE-ED28-B7D5-37F4-7345A222EA13}"/>
              </a:ext>
            </a:extLst>
          </p:cNvPr>
          <p:cNvSpPr txBox="1"/>
          <p:nvPr/>
        </p:nvSpPr>
        <p:spPr>
          <a:xfrm>
            <a:off x="3937894" y="1552795"/>
            <a:ext cx="5154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scale_fill_continuous_sequential</a:t>
            </a:r>
            <a:r>
              <a:rPr lang="en-US" sz="1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(palette = "</a:t>
            </a:r>
            <a:r>
              <a:rPr lang="en-US" sz="14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Viridis</a:t>
            </a:r>
            <a:r>
              <a:rPr lang="en-US" sz="1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", rev = FALSE)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37E9E7-7BC6-9C48-33DC-DEFDD1A326E0}"/>
              </a:ext>
            </a:extLst>
          </p:cNvPr>
          <p:cNvSpPr txBox="1"/>
          <p:nvPr/>
        </p:nvSpPr>
        <p:spPr>
          <a:xfrm>
            <a:off x="3885960" y="4156513"/>
            <a:ext cx="5154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scale_fill_continuous_sequential</a:t>
            </a:r>
            <a:r>
              <a:rPr lang="en-US" sz="1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(palette = ”Inferno", rev = FALSE)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2C23F0-2251-559E-2D3D-71FF624A5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70" y="2681317"/>
            <a:ext cx="3484281" cy="21502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9D5849-C27E-FC46-5F77-0E2F616BE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887935"/>
            <a:ext cx="3171463" cy="19572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2514A60-B003-B77F-52D6-88B39051B6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0695" y="4464290"/>
            <a:ext cx="3142768" cy="193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4641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425F8EB-C56E-2285-CF84-C5F1397E5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4833" y="2082659"/>
            <a:ext cx="2568163" cy="11964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36B749E-8111-9E03-FEF8-C4C8CB1909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640" y="2052177"/>
            <a:ext cx="2568163" cy="12269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EC8218-C30C-7384-CEB8-7D0921FC9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How to change size of points and transparency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B1BE75-090D-BB3F-6FDE-F4691B917D57}"/>
              </a:ext>
            </a:extLst>
          </p:cNvPr>
          <p:cNvSpPr/>
          <p:nvPr/>
        </p:nvSpPr>
        <p:spPr>
          <a:xfrm>
            <a:off x="1853263" y="2657869"/>
            <a:ext cx="1017832" cy="2750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05FF40-63A7-A3E4-7867-439D6545F423}"/>
              </a:ext>
            </a:extLst>
          </p:cNvPr>
          <p:cNvSpPr/>
          <p:nvPr/>
        </p:nvSpPr>
        <p:spPr>
          <a:xfrm>
            <a:off x="6308598" y="2688349"/>
            <a:ext cx="971041" cy="3008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6815B8-AC66-89A3-703B-8BCAD22694D0}"/>
              </a:ext>
            </a:extLst>
          </p:cNvPr>
          <p:cNvSpPr txBox="1"/>
          <p:nvPr/>
        </p:nvSpPr>
        <p:spPr>
          <a:xfrm>
            <a:off x="1689806" y="1595390"/>
            <a:ext cx="13447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Size of points: size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DE0736-6EC1-32BE-5A2D-6FDBAD0C649F}"/>
              </a:ext>
            </a:extLst>
          </p:cNvPr>
          <p:cNvSpPr txBox="1"/>
          <p:nvPr/>
        </p:nvSpPr>
        <p:spPr>
          <a:xfrm>
            <a:off x="4801766" y="1367522"/>
            <a:ext cx="3614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Transparency: </a:t>
            </a:r>
          </a:p>
          <a:p>
            <a:r>
              <a:rPr lang="en-US" sz="1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alpha</a:t>
            </a:r>
            <a:r>
              <a:rPr lang="zh-CN" altLang="en-US" sz="1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=</a:t>
            </a:r>
            <a:r>
              <a:rPr lang="zh-CN" altLang="en-US" sz="1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number between 0 (completely transparent) and 1 (completely opaque)</a:t>
            </a:r>
            <a:endParaRPr lang="en-US" sz="1200" dirty="0">
              <a:solidFill>
                <a:srgbClr val="000000"/>
              </a:solidFill>
              <a:latin typeface="Helvetica" pitchFamily="2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98B453E-80C9-307E-BD89-5EAA118CBD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391" y="3538647"/>
            <a:ext cx="4224730" cy="260726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3F640F6-0132-8221-C84A-E91CBD53C6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1335" y="3578898"/>
            <a:ext cx="4224730" cy="2607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0968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BB9D2B-CFAD-3FE1-B3CE-63994C8BB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634" y="2800674"/>
            <a:ext cx="4389120" cy="2708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EC282B-C89C-0F1A-693B-788B43A06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Adjust the appearance of the legend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920D60-3DC5-F176-DBE4-8C5F1EB9E007}"/>
              </a:ext>
            </a:extLst>
          </p:cNvPr>
          <p:cNvSpPr txBox="1"/>
          <p:nvPr/>
        </p:nvSpPr>
        <p:spPr>
          <a:xfrm>
            <a:off x="4572000" y="1744715"/>
            <a:ext cx="4206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+ </a:t>
            </a:r>
            <a:r>
              <a:rPr lang="en-US" sz="1200" b="1" dirty="0">
                <a:solidFill>
                  <a:srgbClr val="FF0000"/>
                </a:solidFill>
              </a:rPr>
              <a:t>guides</a:t>
            </a:r>
            <a:r>
              <a:rPr lang="en-US" sz="1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(color = </a:t>
            </a:r>
            <a:r>
              <a:rPr lang="en-US" sz="12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guide_legend</a:t>
            </a:r>
            <a:r>
              <a:rPr lang="en-US" sz="1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</a:t>
            </a:r>
          </a:p>
          <a:p>
            <a:r>
              <a:rPr lang="en-US" sz="1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	</a:t>
            </a:r>
            <a:r>
              <a:rPr lang="en-US" sz="1200" b="1" dirty="0" err="1">
                <a:solidFill>
                  <a:srgbClr val="FF0000"/>
                </a:solidFill>
              </a:rPr>
              <a:t>override.aes</a:t>
            </a:r>
            <a:r>
              <a:rPr lang="en-US" sz="1200" b="1" dirty="0">
                <a:solidFill>
                  <a:srgbClr val="FF0000"/>
                </a:solidFill>
              </a:rPr>
              <a:t> </a:t>
            </a:r>
            <a:r>
              <a:rPr lang="en-US" sz="1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= list(size = 3, alpha = 1))</a:t>
            </a:r>
          </a:p>
          <a:p>
            <a:r>
              <a:rPr lang="en-US" sz="1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                  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513D8E-B4BB-8D40-B879-91D5D445320A}"/>
              </a:ext>
            </a:extLst>
          </p:cNvPr>
          <p:cNvSpPr/>
          <p:nvPr/>
        </p:nvSpPr>
        <p:spPr>
          <a:xfrm>
            <a:off x="8253016" y="3698240"/>
            <a:ext cx="574257" cy="6949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C142C2-F127-32AE-545C-0333FCF2BB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2800673"/>
            <a:ext cx="4389120" cy="2708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379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1DD1808-76BD-8D66-B00C-D02334BF1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7128" y="2664987"/>
            <a:ext cx="4167189" cy="25717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B3A34E9-4E8D-C895-F715-7107E962E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Generate different legends for different layers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420A68-9ACD-8FC4-A505-38B701153E54}"/>
              </a:ext>
            </a:extLst>
          </p:cNvPr>
          <p:cNvSpPr txBox="1"/>
          <p:nvPr/>
        </p:nvSpPr>
        <p:spPr>
          <a:xfrm>
            <a:off x="628650" y="1826651"/>
            <a:ext cx="63309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How to add a legend to illustrate the original observations and the fitted line</a:t>
            </a:r>
            <a:r>
              <a:rPr lang="zh-CN" altLang="en-US" sz="1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？</a:t>
            </a:r>
            <a:endParaRPr lang="en-US" sz="1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A7092D-24A1-7EB0-6729-6194681E8BEA}"/>
              </a:ext>
            </a:extLst>
          </p:cNvPr>
          <p:cNvSpPr/>
          <p:nvPr/>
        </p:nvSpPr>
        <p:spPr>
          <a:xfrm>
            <a:off x="8077529" y="3325396"/>
            <a:ext cx="488499" cy="3160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017BDD-6FF2-3CE8-4469-66156ACE2403}"/>
              </a:ext>
            </a:extLst>
          </p:cNvPr>
          <p:cNvSpPr/>
          <p:nvPr/>
        </p:nvSpPr>
        <p:spPr>
          <a:xfrm>
            <a:off x="2876753" y="3329986"/>
            <a:ext cx="1242798" cy="1768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D326DE-DCC5-EA17-49A6-EF8A1435D9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939" y="2664986"/>
            <a:ext cx="4167189" cy="257175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5AB6399-C4B0-3D59-4174-A5F1B8E43B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1890" y="2447034"/>
            <a:ext cx="5540220" cy="336833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B38780C-2787-9211-B503-1BAB792A744D}"/>
              </a:ext>
            </a:extLst>
          </p:cNvPr>
          <p:cNvSpPr/>
          <p:nvPr/>
        </p:nvSpPr>
        <p:spPr>
          <a:xfrm>
            <a:off x="3082290" y="3708989"/>
            <a:ext cx="1527810" cy="1326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BE54AF-D532-4F20-5D98-6225B1E3B0D4}"/>
              </a:ext>
            </a:extLst>
          </p:cNvPr>
          <p:cNvSpPr/>
          <p:nvPr/>
        </p:nvSpPr>
        <p:spPr>
          <a:xfrm>
            <a:off x="4968240" y="3869010"/>
            <a:ext cx="1710690" cy="1326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FE6EB8-283F-1C57-B364-BB627C91D4BB}"/>
              </a:ext>
            </a:extLst>
          </p:cNvPr>
          <p:cNvSpPr/>
          <p:nvPr/>
        </p:nvSpPr>
        <p:spPr>
          <a:xfrm>
            <a:off x="1977578" y="4301380"/>
            <a:ext cx="3758757" cy="15139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972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 animBg="1"/>
      <p:bldP spid="16" grpId="0" animBg="1"/>
      <p:bldP spid="1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25E0C50-16C7-D70C-D206-B82199801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375" y="2377325"/>
            <a:ext cx="4362663" cy="2692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4CC1FF-C29E-A44E-30F2-7912172135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14" y="2377326"/>
            <a:ext cx="4362662" cy="26923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865FD6A-670F-6716-F949-51FF4BE424FC}"/>
              </a:ext>
            </a:extLst>
          </p:cNvPr>
          <p:cNvSpPr/>
          <p:nvPr/>
        </p:nvSpPr>
        <p:spPr>
          <a:xfrm>
            <a:off x="3838592" y="3446303"/>
            <a:ext cx="570348" cy="10526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320A52-AD1F-63A6-9FDF-F62771323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45339"/>
            <a:ext cx="7886700" cy="994172"/>
          </a:xfrm>
        </p:spPr>
        <p:txBody>
          <a:bodyPr>
            <a:normAutofit/>
          </a:bodyPr>
          <a:lstStyle/>
          <a:p>
            <a:r>
              <a:rPr lang="en-US" dirty="0"/>
              <a:t>Delete the legend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29A97C8-F4C0-93B7-D7E4-40E0D2D7FC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1119" y="2816659"/>
            <a:ext cx="5464013" cy="1813717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A6F4B75-B1BB-D123-800B-DD8F5D9A3134}"/>
              </a:ext>
            </a:extLst>
          </p:cNvPr>
          <p:cNvCxnSpPr>
            <a:cxnSpLocks/>
          </p:cNvCxnSpPr>
          <p:nvPr/>
        </p:nvCxnSpPr>
        <p:spPr>
          <a:xfrm flipH="1">
            <a:off x="3254683" y="4072793"/>
            <a:ext cx="2308514" cy="35457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06B9007-CBB0-4223-44F5-17CFA2DBBCB5}"/>
              </a:ext>
            </a:extLst>
          </p:cNvPr>
          <p:cNvCxnSpPr>
            <a:cxnSpLocks/>
          </p:cNvCxnSpPr>
          <p:nvPr/>
        </p:nvCxnSpPr>
        <p:spPr>
          <a:xfrm flipH="1">
            <a:off x="4052362" y="3919904"/>
            <a:ext cx="1224844" cy="19906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871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FF16AF9-8C44-BD1E-6052-FCECD3955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57740"/>
            <a:ext cx="4531179" cy="27963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4CC8978-D341-C16F-E432-5A4E95439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1179" y="2246420"/>
            <a:ext cx="4531179" cy="279638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D42E62-F7AB-F787-CFC6-9D37E0128990}"/>
              </a:ext>
            </a:extLst>
          </p:cNvPr>
          <p:cNvSpPr/>
          <p:nvPr/>
        </p:nvSpPr>
        <p:spPr>
          <a:xfrm>
            <a:off x="3895411" y="2481446"/>
            <a:ext cx="635768" cy="20943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A9A5D7-5979-72A2-3043-D6823B2DA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Merge the legend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68B6B45-D564-7A20-F99A-C0501D327F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0425" y="2044188"/>
            <a:ext cx="3724795" cy="320084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5445B42-2A5D-1AD0-06A7-5333D2759E11}"/>
              </a:ext>
            </a:extLst>
          </p:cNvPr>
          <p:cNvSpPr/>
          <p:nvPr/>
        </p:nvSpPr>
        <p:spPr>
          <a:xfrm>
            <a:off x="2884442" y="3267075"/>
            <a:ext cx="1968546" cy="6057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B60493-05DF-D34F-9EC8-DA7DAC98836D}"/>
              </a:ext>
            </a:extLst>
          </p:cNvPr>
          <p:cNvSpPr/>
          <p:nvPr/>
        </p:nvSpPr>
        <p:spPr>
          <a:xfrm>
            <a:off x="4531179" y="5088906"/>
            <a:ext cx="1445759" cy="1561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</p:spTree>
    <p:extLst>
      <p:ext uri="{BB962C8B-B14F-4D97-AF65-F5344CB8AC3E}">
        <p14:creationId xmlns:p14="http://schemas.microsoft.com/office/powerpoint/2010/main" val="1268898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69F724-35B4-911E-24DF-C8B66CBCE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Theme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6B83E35-4E99-CDFA-BE6A-B58011F58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802" y="2055750"/>
            <a:ext cx="4149932" cy="3302064"/>
          </a:xfrm>
        </p:spPr>
        <p:txBody>
          <a:bodyPr>
            <a:noAutofit/>
          </a:bodyPr>
          <a:lstStyle/>
          <a:p>
            <a:r>
              <a:rPr lang="en-US" sz="1200" dirty="0" err="1"/>
              <a:t>df</a:t>
            </a:r>
            <a:r>
              <a:rPr lang="en-US" sz="1200" dirty="0"/>
              <a:t> &lt;- </a:t>
            </a:r>
            <a:r>
              <a:rPr lang="en-US" sz="1200" dirty="0" err="1"/>
              <a:t>data.frame</a:t>
            </a:r>
            <a:r>
              <a:rPr lang="en-US" sz="1200" dirty="0"/>
              <a:t>(x = 1:3, y = 1:3)</a:t>
            </a:r>
          </a:p>
          <a:p>
            <a:r>
              <a:rPr lang="en-US" sz="1200" dirty="0"/>
              <a:t>base &lt;- </a:t>
            </a:r>
            <a:r>
              <a:rPr lang="en-US" sz="1200" dirty="0" err="1"/>
              <a:t>ggplot</a:t>
            </a:r>
            <a:r>
              <a:rPr lang="en-US" sz="1200" dirty="0"/>
              <a:t>(</a:t>
            </a:r>
            <a:r>
              <a:rPr lang="en-US" sz="1200" dirty="0" err="1"/>
              <a:t>df</a:t>
            </a:r>
            <a:r>
              <a:rPr lang="en-US" sz="1200" dirty="0"/>
              <a:t>, </a:t>
            </a:r>
            <a:r>
              <a:rPr lang="en-US" sz="1200" dirty="0" err="1"/>
              <a:t>aes</a:t>
            </a:r>
            <a:r>
              <a:rPr lang="en-US" sz="1200" dirty="0"/>
              <a:t>(x, y)) + </a:t>
            </a:r>
            <a:r>
              <a:rPr lang="en-US" sz="1200" dirty="0" err="1"/>
              <a:t>geom_point</a:t>
            </a:r>
            <a:r>
              <a:rPr lang="en-US" sz="1200" dirty="0"/>
              <a:t>()</a:t>
            </a:r>
          </a:p>
          <a:p>
            <a:endParaRPr lang="en-US" sz="1200" dirty="0"/>
          </a:p>
          <a:p>
            <a:r>
              <a:rPr lang="en-US" sz="1200" dirty="0"/>
              <a:t>base + </a:t>
            </a:r>
            <a:r>
              <a:rPr lang="en-US" sz="1200" b="1" dirty="0" err="1"/>
              <a:t>theme_grey</a:t>
            </a:r>
            <a:r>
              <a:rPr lang="en-US" sz="1200" b="1" dirty="0"/>
              <a:t>() </a:t>
            </a:r>
            <a:r>
              <a:rPr lang="en-US" sz="1200" dirty="0"/>
              <a:t>+ </a:t>
            </a:r>
            <a:r>
              <a:rPr lang="en-US" sz="1200" dirty="0" err="1"/>
              <a:t>ggtitle</a:t>
            </a:r>
            <a:r>
              <a:rPr lang="en-US" sz="1200" dirty="0"/>
              <a:t>("</a:t>
            </a:r>
            <a:r>
              <a:rPr lang="en-US" sz="1200" dirty="0" err="1"/>
              <a:t>theme_grey</a:t>
            </a:r>
            <a:r>
              <a:rPr lang="en-US" sz="1200" dirty="0"/>
              <a:t>()")</a:t>
            </a:r>
          </a:p>
          <a:p>
            <a:r>
              <a:rPr lang="en-US" sz="1200" dirty="0"/>
              <a:t>base + </a:t>
            </a:r>
            <a:r>
              <a:rPr lang="en-US" sz="1200" b="1" dirty="0" err="1"/>
              <a:t>theme_bw</a:t>
            </a:r>
            <a:r>
              <a:rPr lang="en-US" sz="1200" b="1" dirty="0"/>
              <a:t>() </a:t>
            </a:r>
            <a:r>
              <a:rPr lang="en-US" sz="1200" dirty="0"/>
              <a:t>+ </a:t>
            </a:r>
            <a:r>
              <a:rPr lang="en-US" sz="1200" dirty="0" err="1"/>
              <a:t>ggtitle</a:t>
            </a:r>
            <a:r>
              <a:rPr lang="en-US" sz="1200" dirty="0"/>
              <a:t>("</a:t>
            </a:r>
            <a:r>
              <a:rPr lang="en-US" sz="1200" dirty="0" err="1"/>
              <a:t>theme_bw</a:t>
            </a:r>
            <a:r>
              <a:rPr lang="en-US" sz="1200" dirty="0"/>
              <a:t>()")</a:t>
            </a:r>
          </a:p>
          <a:p>
            <a:r>
              <a:rPr lang="en-US" sz="1200" dirty="0"/>
              <a:t>base + </a:t>
            </a:r>
            <a:r>
              <a:rPr lang="en-US" sz="1200" b="1" dirty="0" err="1"/>
              <a:t>theme_linedraw</a:t>
            </a:r>
            <a:r>
              <a:rPr lang="en-US" sz="1200" b="1" dirty="0"/>
              <a:t>()</a:t>
            </a:r>
            <a:r>
              <a:rPr lang="en-US" sz="1200" dirty="0"/>
              <a:t> + </a:t>
            </a:r>
            <a:r>
              <a:rPr lang="en-US" sz="1200" dirty="0" err="1"/>
              <a:t>ggtitle</a:t>
            </a:r>
            <a:r>
              <a:rPr lang="en-US" sz="1200" dirty="0"/>
              <a:t>("</a:t>
            </a:r>
            <a:r>
              <a:rPr lang="en-US" sz="1200" dirty="0" err="1"/>
              <a:t>theme_linedraw</a:t>
            </a:r>
            <a:r>
              <a:rPr lang="en-US" sz="1200" dirty="0"/>
              <a:t>()")</a:t>
            </a:r>
          </a:p>
          <a:p>
            <a:r>
              <a:rPr lang="en-US" sz="1200" dirty="0"/>
              <a:t>base + </a:t>
            </a:r>
            <a:r>
              <a:rPr lang="en-US" sz="1200" b="1" dirty="0" err="1"/>
              <a:t>theme_light</a:t>
            </a:r>
            <a:r>
              <a:rPr lang="en-US" sz="1200" b="1" dirty="0"/>
              <a:t>() </a:t>
            </a:r>
            <a:r>
              <a:rPr lang="en-US" sz="1200" dirty="0"/>
              <a:t>+ </a:t>
            </a:r>
            <a:r>
              <a:rPr lang="en-US" sz="1200" dirty="0" err="1"/>
              <a:t>ggtitle</a:t>
            </a:r>
            <a:r>
              <a:rPr lang="en-US" sz="1200" dirty="0"/>
              <a:t>("</a:t>
            </a:r>
            <a:r>
              <a:rPr lang="en-US" sz="1200" dirty="0" err="1"/>
              <a:t>theme_light</a:t>
            </a:r>
            <a:r>
              <a:rPr lang="en-US" sz="1200" dirty="0"/>
              <a:t>()")</a:t>
            </a:r>
          </a:p>
          <a:p>
            <a:r>
              <a:rPr lang="en-US" sz="1200" dirty="0"/>
              <a:t>base + </a:t>
            </a:r>
            <a:r>
              <a:rPr lang="en-US" sz="1200" b="1" dirty="0" err="1"/>
              <a:t>theme_dark</a:t>
            </a:r>
            <a:r>
              <a:rPr lang="en-US" sz="1200" b="1" dirty="0"/>
              <a:t>() </a:t>
            </a:r>
            <a:r>
              <a:rPr lang="en-US" sz="1200" dirty="0"/>
              <a:t>+ </a:t>
            </a:r>
            <a:r>
              <a:rPr lang="en-US" sz="1200" dirty="0" err="1"/>
              <a:t>ggtitle</a:t>
            </a:r>
            <a:r>
              <a:rPr lang="en-US" sz="1200" dirty="0"/>
              <a:t>("</a:t>
            </a:r>
            <a:r>
              <a:rPr lang="en-US" sz="1200" dirty="0" err="1"/>
              <a:t>theme_dark</a:t>
            </a:r>
            <a:r>
              <a:rPr lang="en-US" sz="1200" dirty="0"/>
              <a:t>()")</a:t>
            </a:r>
          </a:p>
          <a:p>
            <a:r>
              <a:rPr lang="en-US" sz="1200" dirty="0"/>
              <a:t>base + </a:t>
            </a:r>
            <a:r>
              <a:rPr lang="en-US" sz="1200" b="1" dirty="0" err="1"/>
              <a:t>theme_minimal</a:t>
            </a:r>
            <a:r>
              <a:rPr lang="en-US" sz="1200" b="1" dirty="0"/>
              <a:t>()</a:t>
            </a:r>
            <a:r>
              <a:rPr lang="en-US" sz="1200" dirty="0"/>
              <a:t>  + </a:t>
            </a:r>
            <a:r>
              <a:rPr lang="en-US" sz="1200" dirty="0" err="1"/>
              <a:t>ggtitle</a:t>
            </a:r>
            <a:r>
              <a:rPr lang="en-US" sz="1200" dirty="0"/>
              <a:t>("</a:t>
            </a:r>
            <a:r>
              <a:rPr lang="en-US" sz="1200" dirty="0" err="1"/>
              <a:t>theme_minimal</a:t>
            </a:r>
            <a:r>
              <a:rPr lang="en-US" sz="1200" dirty="0"/>
              <a:t>()")</a:t>
            </a:r>
          </a:p>
          <a:p>
            <a:r>
              <a:rPr lang="en-US" sz="1200" dirty="0"/>
              <a:t>base + </a:t>
            </a:r>
            <a:r>
              <a:rPr lang="en-US" sz="1200" b="1" dirty="0" err="1"/>
              <a:t>theme_classic</a:t>
            </a:r>
            <a:r>
              <a:rPr lang="en-US" sz="1200" b="1" dirty="0"/>
              <a:t>() </a:t>
            </a:r>
            <a:r>
              <a:rPr lang="en-US" sz="1200" dirty="0"/>
              <a:t>+ </a:t>
            </a:r>
            <a:r>
              <a:rPr lang="en-US" sz="1200" dirty="0" err="1"/>
              <a:t>ggtitle</a:t>
            </a:r>
            <a:r>
              <a:rPr lang="en-US" sz="1200" dirty="0"/>
              <a:t>("</a:t>
            </a:r>
            <a:r>
              <a:rPr lang="en-US" sz="1200" dirty="0" err="1"/>
              <a:t>theme_classic</a:t>
            </a:r>
            <a:r>
              <a:rPr lang="en-US" sz="1200" dirty="0"/>
              <a:t>()")</a:t>
            </a:r>
          </a:p>
          <a:p>
            <a:r>
              <a:rPr lang="en-US" sz="1200" dirty="0"/>
              <a:t>base + </a:t>
            </a:r>
            <a:r>
              <a:rPr lang="en-US" sz="1200" b="1" dirty="0" err="1"/>
              <a:t>theme_void</a:t>
            </a:r>
            <a:r>
              <a:rPr lang="en-US" sz="1200" b="1" dirty="0"/>
              <a:t>()</a:t>
            </a:r>
            <a:r>
              <a:rPr lang="en-US" sz="1200" dirty="0"/>
              <a:t> + </a:t>
            </a:r>
            <a:r>
              <a:rPr lang="en-US" sz="1200" dirty="0" err="1"/>
              <a:t>ggtitle</a:t>
            </a:r>
            <a:r>
              <a:rPr lang="en-US" sz="1200" dirty="0"/>
              <a:t>("</a:t>
            </a:r>
            <a:r>
              <a:rPr lang="en-US" sz="1200" dirty="0" err="1"/>
              <a:t>theme_void</a:t>
            </a:r>
            <a:r>
              <a:rPr lang="en-US" sz="1200" dirty="0"/>
              <a:t>()")</a:t>
            </a:r>
          </a:p>
        </p:txBody>
      </p:sp>
      <p:pic>
        <p:nvPicPr>
          <p:cNvPr id="13" name="Picture 12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84048156-F704-9696-4A98-CCCE769C9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2132" y="2588183"/>
            <a:ext cx="3779798" cy="1946594"/>
          </a:xfrm>
          <a:prstGeom prst="rect">
            <a:avLst/>
          </a:prstGeom>
        </p:spPr>
      </p:pic>
      <p:pic>
        <p:nvPicPr>
          <p:cNvPr id="15" name="Picture 14" descr="A graph of a function&#10;&#10;Description automatically generated">
            <a:extLst>
              <a:ext uri="{FF2B5EF4-FFF2-40B4-BE49-F238E27FC236}">
                <a16:creationId xmlns:a16="http://schemas.microsoft.com/office/drawing/2014/main" id="{AF56A03D-BA52-CD3A-3D05-7D580641B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2132" y="4612108"/>
            <a:ext cx="2914938" cy="1785400"/>
          </a:xfrm>
          <a:prstGeom prst="rect">
            <a:avLst/>
          </a:prstGeom>
        </p:spPr>
      </p:pic>
      <p:pic>
        <p:nvPicPr>
          <p:cNvPr id="11" name="Picture 10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5180A411-14F2-5141-9053-7DD1B21D06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0321" y="586180"/>
            <a:ext cx="3758762" cy="200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4629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627BF-E122-EE94-9A18-323109CF4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1 </a:t>
            </a:r>
            <a:r>
              <a:rPr lang="en-US" altLang="zh-CN" dirty="0"/>
              <a:t>(10 mins)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1B5D5-7569-3334-FCC4-1D0994DAD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379" y="2737851"/>
            <a:ext cx="3855165" cy="2305991"/>
          </a:xfrm>
        </p:spPr>
        <p:txBody>
          <a:bodyPr>
            <a:noAutofit/>
          </a:bodyPr>
          <a:lstStyle/>
          <a:p>
            <a:r>
              <a:rPr lang="en-US" sz="1400" dirty="0"/>
              <a:t>Improving the axes and legend labels</a:t>
            </a:r>
          </a:p>
          <a:p>
            <a:r>
              <a:rPr lang="en-US" sz="1400" dirty="0"/>
              <a:t>Adding a title for the plot</a:t>
            </a:r>
          </a:p>
          <a:p>
            <a:r>
              <a:rPr lang="en-US" sz="1400" dirty="0"/>
              <a:t>Tweaking the color scale to your favorite palette </a:t>
            </a:r>
          </a:p>
          <a:p>
            <a:r>
              <a:rPr lang="en-US" sz="1400" dirty="0"/>
              <a:t>The background should be white, not pale grey</a:t>
            </a:r>
          </a:p>
          <a:p>
            <a:r>
              <a:rPr lang="en-US" sz="1400" dirty="0"/>
              <a:t>Major gridlines should be a pale grey and minor gridlines should be removed</a:t>
            </a:r>
          </a:p>
          <a:p>
            <a:r>
              <a:rPr lang="en-US" sz="1400" dirty="0"/>
              <a:t>The plot title should be centered in 12pt bold 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7CBC21-BD0C-7C8B-2666-297B9945C7A1}"/>
              </a:ext>
            </a:extLst>
          </p:cNvPr>
          <p:cNvSpPr txBox="1"/>
          <p:nvPr/>
        </p:nvSpPr>
        <p:spPr>
          <a:xfrm>
            <a:off x="2058934" y="1986767"/>
            <a:ext cx="50261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Improve the plot based on the following requirements </a:t>
            </a:r>
          </a:p>
        </p:txBody>
      </p:sp>
      <p:pic>
        <p:nvPicPr>
          <p:cNvPr id="5" name="Picture 4" descr="A graph showing different colored dots&#10;&#10;Description automatically generated">
            <a:extLst>
              <a:ext uri="{FF2B5EF4-FFF2-40B4-BE49-F238E27FC236}">
                <a16:creationId xmlns:a16="http://schemas.microsoft.com/office/drawing/2014/main" id="{A4AB155F-CE84-5EC3-6782-18A9F5A6E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615" y="2626750"/>
            <a:ext cx="4363764" cy="2696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1527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F93B9-DD12-C3F0-01C9-09E25557E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487" y="1754091"/>
            <a:ext cx="5913311" cy="2287429"/>
          </a:xfrm>
        </p:spPr>
        <p:txBody>
          <a:bodyPr vert="horz" lIns="51435" tIns="25718" rIns="51435" bIns="25718" rtlCol="0" anchor="b">
            <a:normAutofit/>
          </a:bodyPr>
          <a:lstStyle/>
          <a:p>
            <a:r>
              <a:rPr lang="en-US" sz="3713" dirty="0"/>
              <a:t>Specialized Plots</a:t>
            </a:r>
          </a:p>
        </p:txBody>
      </p:sp>
      <p:pic>
        <p:nvPicPr>
          <p:cNvPr id="4" name="Graphic 3" descr="Three star symbols">
            <a:extLst>
              <a:ext uri="{FF2B5EF4-FFF2-40B4-BE49-F238E27FC236}">
                <a16:creationId xmlns:a16="http://schemas.microsoft.com/office/drawing/2014/main" id="{F16D4404-06DA-FA94-0D6D-D4AC452E74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3032276">
            <a:off x="615349" y="2628522"/>
            <a:ext cx="1061053" cy="11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0060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BD654-AFF6-D097-E47A-96C0344D6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877" y="2562218"/>
            <a:ext cx="3457412" cy="2623428"/>
          </a:xfrm>
        </p:spPr>
        <p:txBody>
          <a:bodyPr anchor="t">
            <a:noAutofit/>
          </a:bodyPr>
          <a:lstStyle/>
          <a:p>
            <a:r>
              <a:rPr lang="en-US" sz="1400" dirty="0"/>
              <a:t>Correlation analysis</a:t>
            </a:r>
          </a:p>
          <a:p>
            <a:r>
              <a:rPr lang="en-US" sz="1400" dirty="0"/>
              <a:t>Feature importance in Machine Learning</a:t>
            </a:r>
          </a:p>
          <a:p>
            <a:r>
              <a:rPr lang="en-US" sz="1400" dirty="0"/>
              <a:t>Geospatial data</a:t>
            </a:r>
          </a:p>
          <a:p>
            <a:r>
              <a:rPr lang="en-US" sz="1400" dirty="0"/>
              <a:t>Gene expression data in biology</a:t>
            </a:r>
          </a:p>
          <a:p>
            <a:r>
              <a:rPr lang="en-US" sz="1400" dirty="0"/>
              <a:t>Resource utilization</a:t>
            </a:r>
          </a:p>
          <a:p>
            <a:r>
              <a:rPr lang="en-US" sz="1400" dirty="0"/>
              <a:t>Data quality checks</a:t>
            </a:r>
          </a:p>
          <a:p>
            <a:r>
              <a:rPr lang="en-US" sz="1400" dirty="0"/>
              <a:t>Comparing performance metrics</a:t>
            </a:r>
          </a:p>
          <a:p>
            <a:r>
              <a:rPr lang="en-US" sz="1400" dirty="0"/>
              <a:t>Cluster analysis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A8AD218-0520-DBE5-A8BB-770F2AD709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0" y="1949626"/>
            <a:ext cx="3848612" cy="3848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C32591-E422-6BE2-A59F-8A60619102D6}"/>
              </a:ext>
            </a:extLst>
          </p:cNvPr>
          <p:cNvSpPr txBox="1"/>
          <p:nvPr/>
        </p:nvSpPr>
        <p:spPr>
          <a:xfrm>
            <a:off x="4981036" y="875080"/>
            <a:ext cx="3443005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2876" indent="-192876">
              <a:spcAft>
                <a:spcPts val="338"/>
              </a:spcAft>
              <a:buAutoNum type="arabicPeriod"/>
            </a:pPr>
            <a:r>
              <a:rPr lang="en-US" sz="1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Base R: heatmap() Function</a:t>
            </a:r>
          </a:p>
          <a:p>
            <a:pPr marL="192876" indent="-192876">
              <a:spcAft>
                <a:spcPts val="338"/>
              </a:spcAft>
              <a:buAutoNum type="arabicPeriod"/>
            </a:pPr>
            <a:r>
              <a:rPr lang="en-US" sz="1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ggplot2 with </a:t>
            </a:r>
            <a:r>
              <a:rPr lang="en-US" sz="14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geom_tile</a:t>
            </a:r>
            <a:r>
              <a:rPr lang="en-US" sz="1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()</a:t>
            </a:r>
          </a:p>
          <a:p>
            <a:pPr marL="192876" indent="-192876">
              <a:spcAft>
                <a:spcPts val="338"/>
              </a:spcAft>
              <a:buAutoNum type="arabicPeriod"/>
            </a:pPr>
            <a:r>
              <a:rPr lang="en-US" sz="14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pheatmap</a:t>
            </a:r>
            <a:r>
              <a:rPr lang="en-US" sz="1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for Annotated Heatmaps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918370-14D6-9143-3D4E-8C42D50E2FF8}"/>
              </a:ext>
            </a:extLst>
          </p:cNvPr>
          <p:cNvSpPr txBox="1"/>
          <p:nvPr/>
        </p:nvSpPr>
        <p:spPr>
          <a:xfrm>
            <a:off x="0" y="6545298"/>
            <a:ext cx="5122926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3" dirty="0"/>
              <a:t>Useful materials: https://r-graph-</a:t>
            </a:r>
            <a:r>
              <a:rPr lang="en-US" sz="1013" dirty="0" err="1"/>
              <a:t>gallery.com</a:t>
            </a:r>
            <a:r>
              <a:rPr lang="en-US" sz="1013" dirty="0"/>
              <a:t>/215-the-heatmap-function.html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FFA5EFF-CDE2-28EE-1692-16E1E50B1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Heatmap</a:t>
            </a:r>
          </a:p>
        </p:txBody>
      </p:sp>
    </p:spTree>
    <p:extLst>
      <p:ext uri="{BB962C8B-B14F-4D97-AF65-F5344CB8AC3E}">
        <p14:creationId xmlns:p14="http://schemas.microsoft.com/office/powerpoint/2010/main" val="37966103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52627DC-85D0-9385-EE83-D3296AD23854}"/>
              </a:ext>
            </a:extLst>
          </p:cNvPr>
          <p:cNvSpPr txBox="1"/>
          <p:nvPr/>
        </p:nvSpPr>
        <p:spPr>
          <a:xfrm>
            <a:off x="628650" y="2967370"/>
            <a:ext cx="3003154" cy="923259"/>
          </a:xfrm>
          <a:prstGeom prst="rect">
            <a:avLst/>
          </a:prstGeom>
        </p:spPr>
        <p:txBody>
          <a:bodyPr vert="horz" lIns="51435" tIns="25718" rIns="51435" bIns="25718" rtlCol="0" anchor="t">
            <a:normAutofit/>
          </a:bodyPr>
          <a:lstStyle/>
          <a:p>
            <a:pPr marL="285750" indent="-285750">
              <a:lnSpc>
                <a:spcPct val="90000"/>
              </a:lnSpc>
              <a:spcAft>
                <a:spcPts val="338"/>
              </a:spcAft>
              <a:buFont typeface="Arial" panose="020B0604020202020204" pitchFamily="34" charset="0"/>
              <a:buChar char="•"/>
            </a:pPr>
            <a:r>
              <a:rPr lang="en-US" sz="1575" dirty="0"/>
              <a:t>Survival analysis</a:t>
            </a:r>
          </a:p>
          <a:p>
            <a:pPr marL="285750" indent="-285750">
              <a:lnSpc>
                <a:spcPct val="90000"/>
              </a:lnSpc>
              <a:spcAft>
                <a:spcPts val="338"/>
              </a:spcAft>
              <a:buFont typeface="Arial" panose="020B0604020202020204" pitchFamily="34" charset="0"/>
              <a:buChar char="•"/>
            </a:pPr>
            <a:r>
              <a:rPr lang="en-US" sz="1575" dirty="0"/>
              <a:t>Estimate survival probability over time</a:t>
            </a:r>
          </a:p>
        </p:txBody>
      </p:sp>
      <p:pic>
        <p:nvPicPr>
          <p:cNvPr id="5" name="Picture 4" descr="A graph of a person and person&#10;&#10;Description automatically generated">
            <a:extLst>
              <a:ext uri="{FF2B5EF4-FFF2-40B4-BE49-F238E27FC236}">
                <a16:creationId xmlns:a16="http://schemas.microsoft.com/office/drawing/2014/main" id="{52F56055-A710-6251-15CE-6B1687F54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7090" y="2016662"/>
            <a:ext cx="4688260" cy="28246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1BD411-1E5B-1C2C-AF8D-ED286FE70D85}"/>
              </a:ext>
            </a:extLst>
          </p:cNvPr>
          <p:cNvSpPr txBox="1"/>
          <p:nvPr/>
        </p:nvSpPr>
        <p:spPr>
          <a:xfrm>
            <a:off x="863046" y="5182580"/>
            <a:ext cx="7421336" cy="407432"/>
          </a:xfrm>
          <a:prstGeom prst="rect">
            <a:avLst/>
          </a:prstGeom>
        </p:spPr>
        <p:txBody>
          <a:bodyPr vert="horz" lIns="51435" tIns="25718" rIns="51435" bIns="25718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338"/>
              </a:spcAft>
            </a:pPr>
            <a:r>
              <a:rPr lang="en-US" sz="1351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“</a:t>
            </a:r>
            <a:r>
              <a:rPr lang="en-US" sz="1351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ggsurvplot</a:t>
            </a:r>
            <a:r>
              <a:rPr lang="en-US" sz="1351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()” from the </a:t>
            </a:r>
            <a:r>
              <a:rPr lang="en-US" sz="1351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survminer</a:t>
            </a:r>
            <a:r>
              <a:rPr lang="en-US" sz="1351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library is a useful function to generate KM curves using ggplot2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8BE046-B103-26D9-5421-76B28DCCC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Kaplan-Meier curve</a:t>
            </a:r>
          </a:p>
        </p:txBody>
      </p:sp>
    </p:spTree>
    <p:extLst>
      <p:ext uri="{BB962C8B-B14F-4D97-AF65-F5344CB8AC3E}">
        <p14:creationId xmlns:p14="http://schemas.microsoft.com/office/powerpoint/2010/main" val="15458065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0A628-76B1-9FE2-DC56-4B51C36F8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167" y="3108082"/>
            <a:ext cx="3016949" cy="936124"/>
          </a:xfrm>
        </p:spPr>
        <p:txBody>
          <a:bodyPr anchor="t">
            <a:normAutofit/>
          </a:bodyPr>
          <a:lstStyle/>
          <a:p>
            <a:r>
              <a:rPr lang="en-US" sz="1500" dirty="0"/>
              <a:t>Used primarily in genome-wide association studies (GWAS) to visualize p-values across genomic positions.</a:t>
            </a:r>
          </a:p>
        </p:txBody>
      </p:sp>
      <p:pic>
        <p:nvPicPr>
          <p:cNvPr id="6" name="Picture 5" descr="A graph of a number of numbers and a line&#10;&#10;Description automatically generated with medium confidence">
            <a:extLst>
              <a:ext uri="{FF2B5EF4-FFF2-40B4-BE49-F238E27FC236}">
                <a16:creationId xmlns:a16="http://schemas.microsoft.com/office/drawing/2014/main" id="{37AE55FA-2241-871F-4BA0-54471DF98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751" y="1939628"/>
            <a:ext cx="5365627" cy="32730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436709-7804-0B2A-DD89-DFB1F6F50D75}"/>
              </a:ext>
            </a:extLst>
          </p:cNvPr>
          <p:cNvSpPr txBox="1"/>
          <p:nvPr/>
        </p:nvSpPr>
        <p:spPr>
          <a:xfrm>
            <a:off x="0" y="6536496"/>
            <a:ext cx="5945886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38"/>
              </a:spcAft>
            </a:pPr>
            <a:r>
              <a:rPr lang="en-US" sz="1013" dirty="0"/>
              <a:t>Useful materials: https://r-graph-</a:t>
            </a:r>
            <a:r>
              <a:rPr lang="en-US" sz="1013" dirty="0" err="1"/>
              <a:t>gallery.com</a:t>
            </a:r>
            <a:r>
              <a:rPr lang="en-US" sz="1013" dirty="0"/>
              <a:t>/101_Manhattan_plot.html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0B5FB3A-54D3-03FA-55D3-3C8D2B71A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Manhattan plot</a:t>
            </a:r>
          </a:p>
        </p:txBody>
      </p:sp>
    </p:spTree>
    <p:extLst>
      <p:ext uri="{BB962C8B-B14F-4D97-AF65-F5344CB8AC3E}">
        <p14:creationId xmlns:p14="http://schemas.microsoft.com/office/powerpoint/2010/main" val="11798277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791DF-0F14-7A57-44C3-F85463B1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362" y="1613339"/>
            <a:ext cx="7365390" cy="739434"/>
          </a:xfrm>
        </p:spPr>
        <p:txBody>
          <a:bodyPr anchor="ctr">
            <a:normAutofit/>
          </a:bodyPr>
          <a:lstStyle/>
          <a:p>
            <a:r>
              <a:rPr lang="en-US" sz="1238" dirty="0"/>
              <a:t>A 2D density plot is a useful visualization to understand the distribution of data points over two continuous variables if you have a huge number of points.</a:t>
            </a:r>
          </a:p>
        </p:txBody>
      </p:sp>
      <p:pic>
        <p:nvPicPr>
          <p:cNvPr id="7" name="Picture 6" descr="A graph showing a plot of data&#10;&#10;Description automatically generated with medium confidence">
            <a:extLst>
              <a:ext uri="{FF2B5EF4-FFF2-40B4-BE49-F238E27FC236}">
                <a16:creationId xmlns:a16="http://schemas.microsoft.com/office/drawing/2014/main" id="{31E56ACD-DE48-9F73-B043-EEA57864E4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344"/>
          <a:stretch/>
        </p:blipFill>
        <p:spPr>
          <a:xfrm>
            <a:off x="4660085" y="3056383"/>
            <a:ext cx="3751511" cy="2172516"/>
          </a:xfrm>
          <a:prstGeom prst="rect">
            <a:avLst/>
          </a:prstGeom>
        </p:spPr>
      </p:pic>
      <p:pic>
        <p:nvPicPr>
          <p:cNvPr id="8" name="Picture 7" descr="A graph showing a plot of data&#10;&#10;Description automatically generated with medium confidence">
            <a:extLst>
              <a:ext uri="{FF2B5EF4-FFF2-40B4-BE49-F238E27FC236}">
                <a16:creationId xmlns:a16="http://schemas.microsoft.com/office/drawing/2014/main" id="{36B27208-7EB2-8279-DFC5-6F3B79BEAD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452"/>
          <a:stretch/>
        </p:blipFill>
        <p:spPr>
          <a:xfrm>
            <a:off x="502285" y="3056384"/>
            <a:ext cx="3751512" cy="21725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9CCA3FA-0368-4D13-100C-2E5D0EEA348E}"/>
              </a:ext>
            </a:extLst>
          </p:cNvPr>
          <p:cNvSpPr txBox="1"/>
          <p:nvPr/>
        </p:nvSpPr>
        <p:spPr>
          <a:xfrm>
            <a:off x="4708001" y="2685392"/>
            <a:ext cx="20505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geom_bin2d()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1EC626-7CEB-7C79-4751-B824964B6628}"/>
              </a:ext>
            </a:extLst>
          </p:cNvPr>
          <p:cNvSpPr txBox="1"/>
          <p:nvPr/>
        </p:nvSpPr>
        <p:spPr>
          <a:xfrm>
            <a:off x="0" y="6543237"/>
            <a:ext cx="4708001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3" dirty="0"/>
              <a:t>Useful materials: https://r-graph-</a:t>
            </a:r>
            <a:r>
              <a:rPr lang="en-US" sz="1013" dirty="0" err="1"/>
              <a:t>gallery.com</a:t>
            </a:r>
            <a:r>
              <a:rPr lang="en-US" sz="1013" dirty="0"/>
              <a:t>/2d-density-plot-with-ggplot2.html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A26ADAF-D5F4-174D-B7A9-0DC41A298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2D density plot</a:t>
            </a:r>
          </a:p>
        </p:txBody>
      </p:sp>
    </p:spTree>
    <p:extLst>
      <p:ext uri="{BB962C8B-B14F-4D97-AF65-F5344CB8AC3E}">
        <p14:creationId xmlns:p14="http://schemas.microsoft.com/office/powerpoint/2010/main" val="17381399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AC50F-5BBF-57B8-0E88-AE73C1E4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4490B-7948-13CC-5C18-00D846533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487" y="1754091"/>
            <a:ext cx="5913311" cy="2287429"/>
          </a:xfrm>
        </p:spPr>
        <p:txBody>
          <a:bodyPr vert="horz" lIns="51435" tIns="25718" rIns="51435" bIns="25718" rtlCol="0" anchor="b">
            <a:normAutofit/>
          </a:bodyPr>
          <a:lstStyle/>
          <a:p>
            <a:r>
              <a:rPr lang="en-US" sz="3713" dirty="0"/>
              <a:t>Interactive Plots</a:t>
            </a:r>
          </a:p>
        </p:txBody>
      </p:sp>
      <p:pic>
        <p:nvPicPr>
          <p:cNvPr id="4" name="Graphic 3" descr="Three star symbols">
            <a:extLst>
              <a:ext uri="{FF2B5EF4-FFF2-40B4-BE49-F238E27FC236}">
                <a16:creationId xmlns:a16="http://schemas.microsoft.com/office/drawing/2014/main" id="{7FA35D96-2ABD-DECC-3E69-E155BD25A7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3032276">
            <a:off x="663578" y="2573899"/>
            <a:ext cx="964594" cy="10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1604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E57C192-A8B8-F0DD-5294-ADFB85AD9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386" y="2849500"/>
            <a:ext cx="3245046" cy="1315022"/>
          </a:xfrm>
        </p:spPr>
        <p:txBody>
          <a:bodyPr anchor="t">
            <a:normAutofit/>
          </a:bodyPr>
          <a:lstStyle/>
          <a:p>
            <a:r>
              <a:rPr lang="en-US" sz="1800" dirty="0"/>
              <a:t>What can you observe from this plot? </a:t>
            </a:r>
          </a:p>
          <a:p>
            <a:r>
              <a:rPr lang="en-US" sz="1800" dirty="0"/>
              <a:t>Do you have any questions about this plot?</a:t>
            </a:r>
          </a:p>
        </p:txBody>
      </p:sp>
      <p:pic>
        <p:nvPicPr>
          <p:cNvPr id="5" name="Content Placeholder 4" descr="A graph showing a number of black dots&#10;&#10;Description automatically generated">
            <a:extLst>
              <a:ext uri="{FF2B5EF4-FFF2-40B4-BE49-F238E27FC236}">
                <a16:creationId xmlns:a16="http://schemas.microsoft.com/office/drawing/2014/main" id="{32CA0758-3AE7-8A28-38F3-3D3165F6D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8432" y="2174860"/>
            <a:ext cx="4061991" cy="2508280"/>
          </a:xfrm>
          <a:prstGeom prst="rect">
            <a:avLst/>
          </a:prstGeom>
        </p:spPr>
      </p:pic>
      <p:pic>
        <p:nvPicPr>
          <p:cNvPr id="7" name="Graphic 6" descr="Badge Question Mark outline">
            <a:extLst>
              <a:ext uri="{FF2B5EF4-FFF2-40B4-BE49-F238E27FC236}">
                <a16:creationId xmlns:a16="http://schemas.microsoft.com/office/drawing/2014/main" id="{E1FEEE1B-E153-71E4-D6EE-C5B515F779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09206" y="2106467"/>
            <a:ext cx="743033" cy="74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8070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89FB763-F5C7-971E-10BC-67DBE721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the data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875D18C-0AB5-FB06-9356-13A88C873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12" y="1946683"/>
            <a:ext cx="7009249" cy="1085279"/>
          </a:xfrm>
        </p:spPr>
        <p:txBody>
          <a:bodyPr anchor="ctr">
            <a:normAutofit/>
          </a:bodyPr>
          <a:lstStyle/>
          <a:p>
            <a:r>
              <a:rPr lang="en-US" sz="1400" dirty="0"/>
              <a:t>Any variables that could be used to further explain this plot?</a:t>
            </a:r>
          </a:p>
          <a:p>
            <a:r>
              <a:rPr lang="en-US" sz="1400" dirty="0"/>
              <a:t>Species/ Island?</a:t>
            </a:r>
          </a:p>
        </p:txBody>
      </p:sp>
      <p:pic>
        <p:nvPicPr>
          <p:cNvPr id="7" name="Picture 6" descr="A graph showing different colored dots&#10;&#10;Description automatically generated">
            <a:extLst>
              <a:ext uri="{FF2B5EF4-FFF2-40B4-BE49-F238E27FC236}">
                <a16:creationId xmlns:a16="http://schemas.microsoft.com/office/drawing/2014/main" id="{581CD937-1095-C271-4329-2C8B3C534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8024" y="2915674"/>
            <a:ext cx="3253450" cy="2017138"/>
          </a:xfrm>
          <a:prstGeom prst="rect">
            <a:avLst/>
          </a:prstGeom>
        </p:spPr>
      </p:pic>
      <p:pic>
        <p:nvPicPr>
          <p:cNvPr id="8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7606B5F4-ACA0-CC06-1367-70599B7F0B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526" y="3477234"/>
            <a:ext cx="4644248" cy="8940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119DDA-8258-E4BE-1C57-A14BDF4A9017}"/>
              </a:ext>
            </a:extLst>
          </p:cNvPr>
          <p:cNvSpPr txBox="1"/>
          <p:nvPr/>
        </p:nvSpPr>
        <p:spPr>
          <a:xfrm>
            <a:off x="1734440" y="5378084"/>
            <a:ext cx="5675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What if we are still interested in individual info?</a:t>
            </a:r>
          </a:p>
        </p:txBody>
      </p:sp>
    </p:spTree>
    <p:extLst>
      <p:ext uri="{BB962C8B-B14F-4D97-AF65-F5344CB8AC3E}">
        <p14:creationId xmlns:p14="http://schemas.microsoft.com/office/powerpoint/2010/main" val="303923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9BF4C2A-BCF5-576F-8BE3-C59837B2A362}"/>
              </a:ext>
            </a:extLst>
          </p:cNvPr>
          <p:cNvSpPr txBox="1"/>
          <p:nvPr/>
        </p:nvSpPr>
        <p:spPr>
          <a:xfrm>
            <a:off x="1497901" y="3079242"/>
            <a:ext cx="1928813" cy="1918526"/>
          </a:xfrm>
          <a:prstGeom prst="rect">
            <a:avLst/>
          </a:prstGeom>
        </p:spPr>
        <p:txBody>
          <a:bodyPr vert="horz" lIns="51435" tIns="25718" rIns="51435" bIns="25718" rtlCol="0" anchor="t">
            <a:normAutofit/>
          </a:bodyPr>
          <a:lstStyle/>
          <a:p>
            <a:pPr indent="-128585">
              <a:lnSpc>
                <a:spcPct val="90000"/>
              </a:lnSpc>
              <a:spcAft>
                <a:spcPts val="338"/>
              </a:spcAft>
              <a:buFont typeface="Arial" panose="020B0604020202020204" pitchFamily="34" charset="0"/>
              <a:buChar char="•"/>
            </a:pPr>
            <a:endParaRPr lang="en-US" sz="1238" dirty="0"/>
          </a:p>
        </p:txBody>
      </p:sp>
      <p:pic>
        <p:nvPicPr>
          <p:cNvPr id="8" name="Picture 7" descr="A screen shot of a graph&#10;&#10;Description automatically generated">
            <a:extLst>
              <a:ext uri="{FF2B5EF4-FFF2-40B4-BE49-F238E27FC236}">
                <a16:creationId xmlns:a16="http://schemas.microsoft.com/office/drawing/2014/main" id="{8B1CB22C-84FC-4211-9E59-46378C868A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34684" y="1890396"/>
            <a:ext cx="5274632" cy="32702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137EF7-400C-22ED-4832-94B586A96870}"/>
              </a:ext>
            </a:extLst>
          </p:cNvPr>
          <p:cNvSpPr txBox="1"/>
          <p:nvPr/>
        </p:nvSpPr>
        <p:spPr>
          <a:xfrm>
            <a:off x="763361" y="5360375"/>
            <a:ext cx="761727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What if we are interested in which island the penguin lives or any other information?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6A190E-A4F3-3538-D473-CC92DB93D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</a:t>
            </a:r>
            <a:r>
              <a:rPr lang="en-US" dirty="0" err="1"/>
              <a:t>ggplotly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939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6F100CAD-AD4B-C85F-CD49-5E4EDB4F9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110" y="2447507"/>
            <a:ext cx="3447821" cy="2844452"/>
          </a:xfrm>
          <a:prstGeom prst="rect">
            <a:avLst/>
          </a:prstGeom>
        </p:spPr>
      </p:pic>
      <p:pic>
        <p:nvPicPr>
          <p:cNvPr id="5" name="Content Placeholder 4" descr="A graph showing different sizes of objects&#10;&#10;Description automatically generated with medium confidence">
            <a:extLst>
              <a:ext uri="{FF2B5EF4-FFF2-40B4-BE49-F238E27FC236}">
                <a16:creationId xmlns:a16="http://schemas.microsoft.com/office/drawing/2014/main" id="{0B6BEF39-9FC2-D37A-3FC6-EC8793CBBA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2104" y="2390643"/>
            <a:ext cx="4896737" cy="2901316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94E748A-CEEA-15F3-1640-3BF854CA1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Customize tooltip</a:t>
            </a:r>
          </a:p>
        </p:txBody>
      </p:sp>
    </p:spTree>
    <p:extLst>
      <p:ext uri="{BB962C8B-B14F-4D97-AF65-F5344CB8AC3E}">
        <p14:creationId xmlns:p14="http://schemas.microsoft.com/office/powerpoint/2010/main" val="33813282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AC19E5F-F557-EC16-6865-644F241CF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advanced customization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D65C8-FE31-EC11-9C87-934244385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848" y="2746248"/>
            <a:ext cx="2958049" cy="1829182"/>
          </a:xfrm>
        </p:spPr>
        <p:txBody>
          <a:bodyPr anchor="t">
            <a:normAutofit/>
          </a:bodyPr>
          <a:lstStyle/>
          <a:p>
            <a:r>
              <a:rPr lang="en-US" sz="1400" dirty="0"/>
              <a:t>Use </a:t>
            </a:r>
            <a:r>
              <a:rPr lang="en-US" sz="1400" b="1" dirty="0"/>
              <a:t>bold text </a:t>
            </a:r>
            <a:r>
              <a:rPr lang="en-US" sz="1400" dirty="0"/>
              <a:t>to make the tooltip more readable</a:t>
            </a:r>
          </a:p>
          <a:p>
            <a:r>
              <a:rPr lang="en-US" sz="1400" dirty="0"/>
              <a:t>Add a </a:t>
            </a:r>
            <a:r>
              <a:rPr lang="en-US" sz="1400" b="1" dirty="0"/>
              <a:t>title</a:t>
            </a:r>
            <a:r>
              <a:rPr lang="en-US" sz="1400" dirty="0"/>
              <a:t> to the tooltip</a:t>
            </a:r>
          </a:p>
          <a:p>
            <a:r>
              <a:rPr lang="en-US" sz="1400" dirty="0"/>
              <a:t>Change the </a:t>
            </a:r>
            <a:r>
              <a:rPr lang="en-US" sz="1400" b="1" dirty="0"/>
              <a:t>background</a:t>
            </a:r>
            <a:r>
              <a:rPr lang="en-US" sz="1400" dirty="0"/>
              <a:t> </a:t>
            </a:r>
            <a:r>
              <a:rPr lang="en-US" sz="1400" b="1" dirty="0"/>
              <a:t>color</a:t>
            </a:r>
            <a:r>
              <a:rPr lang="en-US" sz="1400" dirty="0"/>
              <a:t> of the tooltip to white</a:t>
            </a:r>
          </a:p>
          <a:p>
            <a:r>
              <a:rPr lang="en-US" sz="1400" dirty="0"/>
              <a:t>Change the </a:t>
            </a:r>
            <a:r>
              <a:rPr lang="en-US" sz="1400" b="1" dirty="0"/>
              <a:t>font color </a:t>
            </a:r>
            <a:r>
              <a:rPr lang="en-US" sz="1400" dirty="0"/>
              <a:t>of the tooltip to black</a:t>
            </a:r>
          </a:p>
        </p:txBody>
      </p:sp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CBB5C99-1F77-1ECB-6B7C-744CCE5CB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7742" y="1936081"/>
            <a:ext cx="4199410" cy="3449516"/>
          </a:xfrm>
          <a:prstGeom prst="rect">
            <a:avLst/>
          </a:prstGeom>
        </p:spPr>
      </p:pic>
      <p:pic>
        <p:nvPicPr>
          <p:cNvPr id="5" name="Picture 4" descr="A graph showing different colored dots&#10;&#10;Description automatically generated with medium confidence">
            <a:extLst>
              <a:ext uri="{FF2B5EF4-FFF2-40B4-BE49-F238E27FC236}">
                <a16:creationId xmlns:a16="http://schemas.microsoft.com/office/drawing/2014/main" id="{E0764DC2-6CC8-683A-23FD-13AE1B70D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6161" y="1844330"/>
            <a:ext cx="6131678" cy="3633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467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E6BC08-26DE-E426-79EE-29FA2F5D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Animate your figure</a:t>
            </a:r>
          </a:p>
        </p:txBody>
      </p:sp>
      <p:sp>
        <p:nvSpPr>
          <p:cNvPr id="2054" name="Content Placeholder 2053">
            <a:extLst>
              <a:ext uri="{FF2B5EF4-FFF2-40B4-BE49-F238E27FC236}">
                <a16:creationId xmlns:a16="http://schemas.microsoft.com/office/drawing/2014/main" id="{DD118BB0-0C90-777F-0759-FD106EBA5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786" y="2974160"/>
            <a:ext cx="2585316" cy="61812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Try </a:t>
            </a:r>
            <a:r>
              <a:rPr lang="en-US" b="1" dirty="0" err="1"/>
              <a:t>gganimate</a:t>
            </a:r>
            <a:r>
              <a:rPr lang="en-US" b="1" dirty="0"/>
              <a:t>!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8ECE9FA-601F-D607-3CC3-F25B40F84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558" y="2042094"/>
            <a:ext cx="4156391" cy="296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23ECB8E-8839-53AE-1DA1-E29C6D8778E2}"/>
              </a:ext>
            </a:extLst>
          </p:cNvPr>
          <p:cNvSpPr txBox="1"/>
          <p:nvPr/>
        </p:nvSpPr>
        <p:spPr>
          <a:xfrm>
            <a:off x="0" y="6479879"/>
            <a:ext cx="3589020" cy="300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1" dirty="0"/>
              <a:t>https://</a:t>
            </a:r>
            <a:r>
              <a:rPr lang="en-US" sz="1351" dirty="0" err="1"/>
              <a:t>gganimate.com</a:t>
            </a:r>
            <a:r>
              <a:rPr lang="en-US" sz="1351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8833717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8EB56-06F0-0842-58DE-55AC2AA56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984" y="1808798"/>
            <a:ext cx="2025484" cy="3055239"/>
          </a:xfrm>
        </p:spPr>
        <p:txBody>
          <a:bodyPr>
            <a:normAutofit/>
          </a:bodyPr>
          <a:lstStyle/>
          <a:p>
            <a:r>
              <a:rPr lang="en-US" sz="3038" dirty="0"/>
              <a:t>R Shiny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8B86F-7C16-77B4-D456-25DC6C347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4880" y="1901381"/>
            <a:ext cx="4271308" cy="3055239"/>
          </a:xfrm>
        </p:spPr>
        <p:txBody>
          <a:bodyPr anchor="ctr">
            <a:normAutofit/>
          </a:bodyPr>
          <a:lstStyle/>
          <a:p>
            <a:r>
              <a:rPr lang="en-US" sz="1500" dirty="0"/>
              <a:t>Shiny is an R package used to build </a:t>
            </a:r>
            <a:r>
              <a:rPr lang="en-US" sz="1500" b="1" dirty="0"/>
              <a:t>interactive web applications</a:t>
            </a:r>
            <a:r>
              <a:rPr lang="en-US" sz="1500" dirty="0"/>
              <a:t> directly from R</a:t>
            </a:r>
          </a:p>
          <a:p>
            <a:r>
              <a:rPr lang="en-US" sz="1500" dirty="0"/>
              <a:t>Common use cases: data visualization, dashboards, interactive reports, and real-time data processing.</a:t>
            </a:r>
          </a:p>
          <a:p>
            <a:r>
              <a:rPr lang="en-US" sz="1500" b="1" dirty="0"/>
              <a:t>Structure</a:t>
            </a:r>
            <a:r>
              <a:rPr lang="en-US" sz="1500" dirty="0"/>
              <a:t>: UI (User Interface) + server (backend logic)</a:t>
            </a:r>
          </a:p>
          <a:p>
            <a:r>
              <a:rPr lang="en-US" sz="1500" b="1" dirty="0"/>
              <a:t>UI design</a:t>
            </a:r>
            <a:r>
              <a:rPr lang="en-US" sz="1500" dirty="0"/>
              <a:t>: </a:t>
            </a:r>
            <a:r>
              <a:rPr lang="en-US" sz="1500" dirty="0" err="1"/>
              <a:t>fluidPage</a:t>
            </a:r>
            <a:r>
              <a:rPr lang="en-US" sz="1500" dirty="0"/>
              <a:t>(), </a:t>
            </a:r>
            <a:r>
              <a:rPr lang="en-US" sz="1500" dirty="0" err="1"/>
              <a:t>sidebarLayout</a:t>
            </a:r>
            <a:r>
              <a:rPr lang="en-US" sz="1500" dirty="0"/>
              <a:t>(), ……</a:t>
            </a:r>
          </a:p>
          <a:p>
            <a:r>
              <a:rPr lang="en-US" sz="1500" dirty="0"/>
              <a:t>Shiny is reactive, which means that inputs trigger changes in the outputs</a:t>
            </a:r>
          </a:p>
          <a:p>
            <a:endParaRPr lang="en-US" sz="1238" b="1" dirty="0"/>
          </a:p>
        </p:txBody>
      </p:sp>
    </p:spTree>
    <p:extLst>
      <p:ext uri="{BB962C8B-B14F-4D97-AF65-F5344CB8AC3E}">
        <p14:creationId xmlns:p14="http://schemas.microsoft.com/office/powerpoint/2010/main" val="31647727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BAC90-479A-1DCE-5086-C6041D3EB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93D4F-35D9-132D-4A08-E329E243B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516" y="2829872"/>
            <a:ext cx="5582412" cy="745629"/>
          </a:xfrm>
        </p:spPr>
        <p:txBody>
          <a:bodyPr>
            <a:normAutofit fontScale="90000"/>
          </a:bodyPr>
          <a:lstStyle/>
          <a:p>
            <a:r>
              <a:rPr lang="en-US" dirty="0"/>
              <a:t>Let’s first see an example of R shiny dashboard to analyze Omics Data - </a:t>
            </a:r>
            <a:r>
              <a:rPr lang="en-US" dirty="0" err="1"/>
              <a:t>GraphBio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F3D057-36EA-57DF-296D-D70E585B0B74}"/>
              </a:ext>
            </a:extLst>
          </p:cNvPr>
          <p:cNvSpPr txBox="1"/>
          <p:nvPr/>
        </p:nvSpPr>
        <p:spPr>
          <a:xfrm>
            <a:off x="1842517" y="4647685"/>
            <a:ext cx="4240097" cy="300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1" dirty="0">
                <a:hlinkClick r:id="rId3"/>
              </a:rPr>
              <a:t>http://www.graphbio1.com/en/</a:t>
            </a:r>
            <a:endParaRPr lang="en-US" sz="1351" dirty="0"/>
          </a:p>
        </p:txBody>
      </p:sp>
    </p:spTree>
    <p:extLst>
      <p:ext uri="{BB962C8B-B14F-4D97-AF65-F5344CB8AC3E}">
        <p14:creationId xmlns:p14="http://schemas.microsoft.com/office/powerpoint/2010/main" val="39043788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F5A89-71F0-D8F5-9203-F800B11A62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64525" y="2189124"/>
            <a:ext cx="3607019" cy="16460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User interface (UI) </a:t>
            </a:r>
          </a:p>
          <a:p>
            <a:pPr marL="0" indent="0">
              <a:buNone/>
            </a:pPr>
            <a:r>
              <a:rPr lang="en-US" sz="1350" dirty="0"/>
              <a:t>[define visual elements]   </a:t>
            </a:r>
          </a:p>
          <a:p>
            <a:pPr marL="0" indent="0">
              <a:buNone/>
            </a:pPr>
            <a:r>
              <a:rPr lang="en-US" sz="1500" dirty="0"/>
              <a:t>+ </a:t>
            </a:r>
          </a:p>
          <a:p>
            <a:pPr marL="0" indent="0">
              <a:buNone/>
            </a:pPr>
            <a:r>
              <a:rPr lang="en-US" sz="1500" b="1" dirty="0"/>
              <a:t>Server</a:t>
            </a:r>
          </a:p>
          <a:p>
            <a:pPr marL="0" indent="0">
              <a:buNone/>
            </a:pPr>
            <a:r>
              <a:rPr lang="en-US" sz="1350" dirty="0"/>
              <a:t>[handle the reactive behavior and interactions]</a:t>
            </a:r>
          </a:p>
        </p:txBody>
      </p:sp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79D9226E-02B0-5D4E-10A9-FCFB0E575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816" y="1918668"/>
            <a:ext cx="2371622" cy="2186916"/>
          </a:xfrm>
          <a:prstGeom prst="rect">
            <a:avLst/>
          </a:prstGeom>
          <a:noFill/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2C099D3-B28C-A13D-DA73-BDA50D484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Skeleton of R Shiny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497AD2-FBB5-1AAF-EDD2-7050FFA7D1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6990" y="4427826"/>
            <a:ext cx="6210020" cy="167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660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FB333-8CA3-49B6-9E66-78C6DEEF4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Layout options: Layout/Panel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AC3E6-759F-3DBF-617E-C5836622B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093642"/>
            <a:ext cx="7886700" cy="4351335"/>
          </a:xfrm>
        </p:spPr>
        <p:txBody>
          <a:bodyPr/>
          <a:lstStyle/>
          <a:p>
            <a:r>
              <a:rPr lang="en-US" dirty="0" err="1"/>
              <a:t>SidebarLayout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TabsetPanel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FB0564AB-F326-1F66-B88B-A6389AC5B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195" y="2892796"/>
            <a:ext cx="3805699" cy="468394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7B54A05-0671-2132-8337-EF50E48116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4195" y="4044920"/>
            <a:ext cx="3805699" cy="926387"/>
          </a:xfrm>
          <a:prstGeom prst="rect">
            <a:avLst/>
          </a:prstGeom>
        </p:spPr>
      </p:pic>
      <p:pic>
        <p:nvPicPr>
          <p:cNvPr id="11" name="Picture 10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0997DF40-4BB2-88E5-41CD-BF4CEEFC1E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9591" y="2634333"/>
            <a:ext cx="3574789" cy="261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4364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E4C32-AAB7-6CF0-6CEB-8EB04A934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51959-8B67-2817-06DF-B90FDF1A8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4289" y="2226469"/>
            <a:ext cx="3097530" cy="326350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800" dirty="0"/>
              <a:t>Define a placeholder for plots, tables, and text in the user interface and server side.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/>
          </a:p>
          <a:p>
            <a:r>
              <a:rPr lang="en-US" sz="1800" dirty="0"/>
              <a:t>Plot</a:t>
            </a:r>
          </a:p>
          <a:p>
            <a:r>
              <a:rPr lang="en-US" sz="1800" dirty="0"/>
              <a:t>Table</a:t>
            </a:r>
          </a:p>
          <a:p>
            <a:r>
              <a:rPr lang="en-US" sz="1800" dirty="0"/>
              <a:t>Text</a:t>
            </a:r>
          </a:p>
          <a:p>
            <a:endParaRPr lang="en-US" sz="1800" dirty="0"/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43EE179D-634A-0741-BD61-9424AE982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055" y="1792988"/>
            <a:ext cx="2776451" cy="369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2552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BE56C-5512-CE29-373C-F9EFB1E41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Widgets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34F1A-7E9D-18E6-3217-C96BC150C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6365" y="2001720"/>
            <a:ext cx="5915025" cy="3342789"/>
          </a:xfrm>
        </p:spPr>
        <p:txBody>
          <a:bodyPr>
            <a:noAutofit/>
          </a:bodyPr>
          <a:lstStyle/>
          <a:p>
            <a:r>
              <a:rPr lang="en-US" sz="1400" dirty="0"/>
              <a:t>Allow users to </a:t>
            </a:r>
            <a:r>
              <a:rPr lang="en-US" sz="1400" b="1" dirty="0"/>
              <a:t>interact</a:t>
            </a:r>
            <a:r>
              <a:rPr lang="en-US" sz="1400" dirty="0"/>
              <a:t> with the app</a:t>
            </a:r>
          </a:p>
          <a:p>
            <a:endParaRPr lang="en-US" sz="1400" dirty="0"/>
          </a:p>
          <a:p>
            <a:r>
              <a:rPr lang="en-US" sz="1400" dirty="0"/>
              <a:t>Text box</a:t>
            </a:r>
          </a:p>
          <a:p>
            <a:r>
              <a:rPr lang="en-US" sz="1400" dirty="0"/>
              <a:t>Numeric input</a:t>
            </a:r>
          </a:p>
          <a:p>
            <a:r>
              <a:rPr lang="en-US" sz="1400" dirty="0"/>
              <a:t>Slider</a:t>
            </a:r>
          </a:p>
          <a:p>
            <a:r>
              <a:rPr lang="en-US" sz="1400" dirty="0"/>
              <a:t>Range selector</a:t>
            </a:r>
          </a:p>
          <a:p>
            <a:r>
              <a:rPr lang="en-US" sz="1400" dirty="0"/>
              <a:t>Radio button</a:t>
            </a:r>
          </a:p>
          <a:p>
            <a:r>
              <a:rPr lang="en-US" sz="1400" dirty="0"/>
              <a:t>Dropdown menu (single selection/multiple selections)</a:t>
            </a:r>
          </a:p>
          <a:p>
            <a:r>
              <a:rPr lang="en-US" sz="1400" dirty="0"/>
              <a:t>Checkbox</a:t>
            </a:r>
          </a:p>
          <a:p>
            <a:r>
              <a:rPr lang="en-US" sz="1400" dirty="0"/>
              <a:t>……</a:t>
            </a:r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78E23F40-A136-0B33-344C-AEB6F5E24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526" y="607309"/>
            <a:ext cx="2021727" cy="56433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478345-35C5-46B5-C423-6872712FB871}"/>
              </a:ext>
            </a:extLst>
          </p:cNvPr>
          <p:cNvSpPr txBox="1"/>
          <p:nvPr/>
        </p:nvSpPr>
        <p:spPr>
          <a:xfrm>
            <a:off x="0" y="6492877"/>
            <a:ext cx="4395354" cy="300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1" dirty="0"/>
              <a:t>More widgets: </a:t>
            </a:r>
            <a:r>
              <a:rPr lang="en-US" sz="1351" dirty="0">
                <a:hlinkClick r:id="rId4"/>
              </a:rPr>
              <a:t>https://shiny.posit.co/r/gallery/</a:t>
            </a:r>
            <a:endParaRPr lang="en-US" sz="1351" dirty="0"/>
          </a:p>
        </p:txBody>
      </p:sp>
    </p:spTree>
    <p:extLst>
      <p:ext uri="{BB962C8B-B14F-4D97-AF65-F5344CB8AC3E}">
        <p14:creationId xmlns:p14="http://schemas.microsoft.com/office/powerpoint/2010/main" val="5068251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5A560-9CDA-F4D0-A4FE-EC2C02FB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755" y="2527837"/>
            <a:ext cx="2263140" cy="1802326"/>
          </a:xfrm>
        </p:spPr>
        <p:txBody>
          <a:bodyPr vert="horz" lIns="51435" tIns="25718" rIns="51435" bIns="25718" rtlCol="0" anchor="b">
            <a:normAutofit/>
          </a:bodyPr>
          <a:lstStyle/>
          <a:p>
            <a:r>
              <a:rPr lang="en-US" sz="2700" dirty="0"/>
              <a:t>Let’s work on a simple R shiny demo!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D74E71E6-CF45-7ECB-967E-A9BC0901E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149" y="1865093"/>
            <a:ext cx="5148668" cy="3127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50181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79603-A118-B8B6-CC67-ED3D20A3B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to arrange shiny in multiple pages</a:t>
            </a:r>
            <a:endParaRPr lang="en-US" dirty="0"/>
          </a:p>
        </p:txBody>
      </p:sp>
      <p:pic>
        <p:nvPicPr>
          <p:cNvPr id="5" name="Picture 4" descr="A blue and white rectangular box with black text&#10;&#10;AI-generated content may be incorrect.">
            <a:extLst>
              <a:ext uri="{FF2B5EF4-FFF2-40B4-BE49-F238E27FC236}">
                <a16:creationId xmlns:a16="http://schemas.microsoft.com/office/drawing/2014/main" id="{5529A1E5-E368-CDB6-2AA8-38D5CC4F8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488" y="2220098"/>
            <a:ext cx="4333875" cy="990600"/>
          </a:xfrm>
          <a:prstGeom prst="rect">
            <a:avLst/>
          </a:prstGeom>
        </p:spPr>
      </p:pic>
      <p:pic>
        <p:nvPicPr>
          <p:cNvPr id="7" name="Picture 6" descr="A blue and white page with black text&#10;&#10;AI-generated content may be incorrect.">
            <a:extLst>
              <a:ext uri="{FF2B5EF4-FFF2-40B4-BE49-F238E27FC236}">
                <a16:creationId xmlns:a16="http://schemas.microsoft.com/office/drawing/2014/main" id="{FB311F8E-E0CC-A37E-6253-4783DC9099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538" y="2995613"/>
            <a:ext cx="4352925" cy="866775"/>
          </a:xfrm>
          <a:prstGeom prst="rect">
            <a:avLst/>
          </a:prstGeom>
        </p:spPr>
      </p:pic>
      <p:pic>
        <p:nvPicPr>
          <p:cNvPr id="9" name="Picture 8" descr="A blue and white box with black text&#10;&#10;AI-generated content may be incorrect.">
            <a:extLst>
              <a:ext uri="{FF2B5EF4-FFF2-40B4-BE49-F238E27FC236}">
                <a16:creationId xmlns:a16="http://schemas.microsoft.com/office/drawing/2014/main" id="{1D2D4297-117E-2E29-9119-E19DC01727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5638" y="3761603"/>
            <a:ext cx="4333875" cy="8763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92EA72D-7081-5B45-D316-0512BE0C9137}"/>
              </a:ext>
            </a:extLst>
          </p:cNvPr>
          <p:cNvSpPr txBox="1"/>
          <p:nvPr/>
        </p:nvSpPr>
        <p:spPr>
          <a:xfrm>
            <a:off x="845003" y="5167313"/>
            <a:ext cx="7453993" cy="692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338"/>
              </a:spcAft>
            </a:pPr>
            <a:r>
              <a:rPr lang="en-US" sz="1351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Use </a:t>
            </a:r>
            <a:r>
              <a:rPr lang="en-US" sz="1351" b="1" dirty="0" err="1">
                <a:solidFill>
                  <a:srgbClr val="FF0000"/>
                </a:solidFill>
              </a:rPr>
              <a:t>dashboardPage</a:t>
            </a:r>
            <a:r>
              <a:rPr lang="en-US" sz="1351" b="1" dirty="0">
                <a:solidFill>
                  <a:srgbClr val="FF0000"/>
                </a:solidFill>
              </a:rPr>
              <a:t>() </a:t>
            </a:r>
            <a:r>
              <a:rPr lang="en-US" sz="1351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from </a:t>
            </a:r>
            <a:r>
              <a:rPr lang="en-US" sz="1351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shinydashboard</a:t>
            </a:r>
            <a:r>
              <a:rPr lang="en-US" sz="1351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package in UI!</a:t>
            </a:r>
            <a:r>
              <a:rPr lang="zh-CN" altLang="en-US" sz="1351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351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Another choice: </a:t>
            </a:r>
            <a:r>
              <a:rPr lang="en-US" sz="1351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navbarPage</a:t>
            </a:r>
            <a:r>
              <a:rPr lang="en-US" sz="1351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()</a:t>
            </a:r>
          </a:p>
          <a:p>
            <a:pPr>
              <a:lnSpc>
                <a:spcPct val="90000"/>
              </a:lnSpc>
              <a:spcAft>
                <a:spcPts val="338"/>
              </a:spcAft>
            </a:pPr>
            <a:r>
              <a:rPr lang="en-US" sz="1351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Check “3_ShinyDemo.R” to see how to combine “1_ShinyDemo.R” and “2_ShinyDemo.R” into one Shiny app.</a:t>
            </a:r>
          </a:p>
        </p:txBody>
      </p:sp>
    </p:spTree>
    <p:extLst>
      <p:ext uri="{BB962C8B-B14F-4D97-AF65-F5344CB8AC3E}">
        <p14:creationId xmlns:p14="http://schemas.microsoft.com/office/powerpoint/2010/main" val="31589445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FA3F8-BFEB-FB64-D138-F02EF149C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A03C2-286F-A99E-69B8-2755BDDA4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2 </a:t>
            </a:r>
            <a:r>
              <a:rPr lang="en-US" altLang="zh-CN" dirty="0"/>
              <a:t>(15 mins)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26BE8-FF25-FE61-1785-31783F167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64886"/>
            <a:ext cx="7022881" cy="53086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Please select one of the example plots and use </a:t>
            </a:r>
            <a:r>
              <a:rPr lang="en-US" sz="1600" dirty="0" err="1"/>
              <a:t>ggplotly</a:t>
            </a:r>
            <a:r>
              <a:rPr lang="en-US" sz="1600" dirty="0"/>
              <a:t> to make it interactive. If you have time, try to create your own R shiny dashboard!</a:t>
            </a:r>
          </a:p>
        </p:txBody>
      </p:sp>
    </p:spTree>
    <p:extLst>
      <p:ext uri="{BB962C8B-B14F-4D97-AF65-F5344CB8AC3E}">
        <p14:creationId xmlns:p14="http://schemas.microsoft.com/office/powerpoint/2010/main" val="15928369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5E225-CF24-3C4A-88F0-7CD1549DA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Friends don’t let friends make bad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26879-E7F3-5077-840C-4155A6436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4640" y="1690688"/>
            <a:ext cx="5915025" cy="1394787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Don’t make violin plots for small sample sizes</a:t>
            </a:r>
          </a:p>
          <a:p>
            <a:r>
              <a:rPr lang="en-US" sz="1800" dirty="0"/>
              <a:t>Don’t make heatmap without checking outliers</a:t>
            </a:r>
          </a:p>
          <a:p>
            <a:r>
              <a:rPr lang="en-US" sz="1800" dirty="0"/>
              <a:t>Don’t use red/green and rainbow color scales</a:t>
            </a:r>
          </a:p>
          <a:p>
            <a:r>
              <a:rPr lang="en-US" sz="1800" dirty="0"/>
              <a:t>……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FD6272-8327-461E-B5AD-BA2C9BBBEE61}"/>
              </a:ext>
            </a:extLst>
          </p:cNvPr>
          <p:cNvSpPr txBox="1"/>
          <p:nvPr/>
        </p:nvSpPr>
        <p:spPr>
          <a:xfrm>
            <a:off x="0" y="6549294"/>
            <a:ext cx="3257550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3" dirty="0">
                <a:hlinkClick r:id="rId3"/>
              </a:rPr>
              <a:t>https://github.com/cxli233/FriendsDontLetFriends</a:t>
            </a:r>
            <a:endParaRPr lang="en-US" sz="1013" dirty="0"/>
          </a:p>
        </p:txBody>
      </p:sp>
      <p:pic>
        <p:nvPicPr>
          <p:cNvPr id="11268" name="Picture 4" descr="Beware of Violin Plots for Small Sample Sizes">
            <a:extLst>
              <a:ext uri="{FF2B5EF4-FFF2-40B4-BE49-F238E27FC236}">
                <a16:creationId xmlns:a16="http://schemas.microsoft.com/office/drawing/2014/main" id="{424FCEB2-DF40-63B0-4196-078636355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0" y="3729790"/>
            <a:ext cx="3250462" cy="162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2" descr="Did you check outliers">
            <a:extLst>
              <a:ext uri="{FF2B5EF4-FFF2-40B4-BE49-F238E27FC236}">
                <a16:creationId xmlns:a16="http://schemas.microsoft.com/office/drawing/2014/main" id="{AE5EF206-CF99-4046-1AF0-EE6EC5AC79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86275" y="3343275"/>
            <a:ext cx="171450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51435" tIns="25718" rIns="51435" bIns="25718" numCol="1" anchor="t" anchorCtr="0" compatLnSpc="1">
            <a:prstTxWarp prst="textNoShape">
              <a:avLst/>
            </a:prstTxWarp>
          </a:bodyPr>
          <a:lstStyle/>
          <a:p>
            <a:endParaRPr lang="en-US" sz="1013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53DA3FB-0FB3-C69E-E0C2-39B535141E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68463" y="3647675"/>
            <a:ext cx="2863134" cy="178945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359F374-0780-79BA-C81A-7C4F522F9C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2862" r="12424"/>
          <a:stretch/>
        </p:blipFill>
        <p:spPr>
          <a:xfrm>
            <a:off x="6231597" y="3201162"/>
            <a:ext cx="2863135" cy="268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92977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B466B-0FAB-6707-8CA9-B1D2A747A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19B4F-BCCA-D246-6C68-987B66360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374" y="1993414"/>
            <a:ext cx="3063648" cy="4039523"/>
          </a:xfrm>
        </p:spPr>
        <p:txBody>
          <a:bodyPr>
            <a:noAutofit/>
          </a:bodyPr>
          <a:lstStyle/>
          <a:p>
            <a:r>
              <a:rPr lang="en-US" sz="1400" dirty="0">
                <a:solidFill>
                  <a:srgbClr val="373A3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ggplot2: </a:t>
            </a:r>
          </a:p>
          <a:p>
            <a:pPr lvl="1"/>
            <a:r>
              <a:rPr lang="en-US" sz="1400" dirty="0">
                <a:solidFill>
                  <a:srgbClr val="373A3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Elegant Graphics for Data Analysis (3e) </a:t>
            </a:r>
            <a:r>
              <a:rPr lang="en-US" sz="1400" dirty="0">
                <a:solidFill>
                  <a:srgbClr val="373A3C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https://ggplot2-book.org/</a:t>
            </a:r>
            <a:endParaRPr lang="en-US" sz="1400" dirty="0">
              <a:solidFill>
                <a:srgbClr val="373A3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400" dirty="0">
                <a:solidFill>
                  <a:srgbClr val="373A3C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https://ggplot2.tidyverse.org/reference/</a:t>
            </a:r>
            <a:endParaRPr lang="en-US" sz="1400" dirty="0">
              <a:solidFill>
                <a:srgbClr val="373A3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sz="1400" dirty="0">
              <a:latin typeface="Calibri" panose="020F0502020204030204" pitchFamily="34" charset="0"/>
              <a:cs typeface="Calibri" panose="020F0502020204030204" pitchFamily="34" charset="0"/>
              <a:hlinkClick r:id="rId5"/>
            </a:endParaRPr>
          </a:p>
          <a:p>
            <a:pPr marL="171450" lvl="1">
              <a:spcBef>
                <a:spcPts val="750"/>
              </a:spcBef>
            </a:pPr>
            <a:r>
              <a:rPr lang="en-US" sz="1400" dirty="0">
                <a:solidFill>
                  <a:srgbClr val="373A3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More about data visualization in R (including code, very useful!) </a:t>
            </a:r>
          </a:p>
          <a:p>
            <a:pPr marL="514350" lvl="2">
              <a:spcBef>
                <a:spcPts val="750"/>
              </a:spcBef>
            </a:pPr>
            <a:r>
              <a:rPr lang="en-US" sz="1400" dirty="0">
                <a:solidFill>
                  <a:srgbClr val="373A3C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https://r-graph-gallery.com/</a:t>
            </a:r>
            <a:endParaRPr lang="en-US" sz="1400" dirty="0">
              <a:solidFill>
                <a:srgbClr val="373A3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Fundamentals of Data Visualization:</a:t>
            </a:r>
          </a:p>
          <a:p>
            <a:pPr lvl="1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  <a:hlinkClick r:id="rId6"/>
              </a:rPr>
              <a:t>https://clauswilke.com/dataviz/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DA91B0-F96C-8E79-5905-2E88B6935120}"/>
              </a:ext>
            </a:extLst>
          </p:cNvPr>
          <p:cNvSpPr txBox="1">
            <a:spLocks/>
          </p:cNvSpPr>
          <p:nvPr/>
        </p:nvSpPr>
        <p:spPr>
          <a:xfrm>
            <a:off x="4341359" y="1993415"/>
            <a:ext cx="3602491" cy="3263504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4313" lvl="1" indent="-214313">
              <a:spcBef>
                <a:spcPts val="750"/>
              </a:spcBef>
            </a:pPr>
            <a:r>
              <a:rPr lang="en-US" sz="1400" dirty="0">
                <a:solidFill>
                  <a:srgbClr val="373A3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Friends don’t let friends make bad graphs:</a:t>
            </a:r>
          </a:p>
          <a:p>
            <a:pPr lvl="1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  <a:hlinkClick r:id="rId7"/>
              </a:rPr>
              <a:t>https://github.com/cxli233/FriendsDontLetFriends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400" dirty="0">
              <a:solidFill>
                <a:srgbClr val="373A3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solidFill>
                  <a:srgbClr val="373A3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 shiny:</a:t>
            </a:r>
          </a:p>
          <a:p>
            <a:pPr lvl="1"/>
            <a:r>
              <a:rPr lang="en-US" sz="1400" dirty="0">
                <a:solidFill>
                  <a:srgbClr val="373A3C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8"/>
              </a:rPr>
              <a:t>https://shiny.posit.co/r/gallery/</a:t>
            </a:r>
          </a:p>
          <a:p>
            <a:pPr lvl="1"/>
            <a:r>
              <a:rPr lang="en-US" sz="1400" dirty="0">
                <a:solidFill>
                  <a:srgbClr val="373A3C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9"/>
              </a:rPr>
              <a:t>https://shiny.posit.co/r/getstarted/shiny-basics/lesson1/</a:t>
            </a:r>
            <a:endParaRPr lang="en-US" sz="1400" dirty="0">
              <a:solidFill>
                <a:srgbClr val="373A3C"/>
              </a:solidFill>
              <a:latin typeface="Calibri" panose="020F0502020204030204" pitchFamily="34" charset="0"/>
              <a:cs typeface="Calibri" panose="020F0502020204030204" pitchFamily="34" charset="0"/>
              <a:hlinkClick r:id="" action="ppaction://noaction"/>
            </a:endParaRPr>
          </a:p>
          <a:p>
            <a:pPr lvl="1"/>
            <a:r>
              <a:rPr lang="en-US" sz="1400" dirty="0">
                <a:solidFill>
                  <a:srgbClr val="373A3C"/>
                </a:solidFill>
                <a:latin typeface="Calibri" panose="020F0502020204030204" pitchFamily="34" charset="0"/>
                <a:cs typeface="Calibri" panose="020F0502020204030204" pitchFamily="34" charset="0"/>
                <a:hlinkClick r:id="" action="ppaction://noaction"/>
              </a:rPr>
              <a:t>https://bookdown.org/weicheng/shinyTutorial/</a:t>
            </a:r>
            <a:endParaRPr lang="en-US" sz="1400" dirty="0">
              <a:solidFill>
                <a:srgbClr val="373A3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400" dirty="0">
                <a:solidFill>
                  <a:srgbClr val="373A3C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10"/>
              </a:rPr>
              <a:t>https://www.appsilon.com/post/r-shiny-in-life-sciences-examples</a:t>
            </a:r>
            <a:endParaRPr lang="en-US" sz="1400" dirty="0">
              <a:solidFill>
                <a:srgbClr val="373A3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1" indent="0">
              <a:buNone/>
            </a:pPr>
            <a:endParaRPr lang="en-US" sz="1400" dirty="0">
              <a:solidFill>
                <a:srgbClr val="373A3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 dirty="0">
              <a:solidFill>
                <a:srgbClr val="373A3C"/>
              </a:solidFill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10467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80AD3-6B03-7E72-D712-DA60948EA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21D56-2285-E326-6EE0-A3727BC3F2C4}"/>
              </a:ext>
            </a:extLst>
          </p:cNvPr>
          <p:cNvSpPr txBox="1">
            <a:spLocks/>
          </p:cNvSpPr>
          <p:nvPr/>
        </p:nvSpPr>
        <p:spPr>
          <a:xfrm>
            <a:off x="628650" y="766569"/>
            <a:ext cx="7886700" cy="132556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dirty="0">
                <a:latin typeface="Helvetica" pitchFamily="2" charset="0"/>
              </a:rPr>
              <a:t>Thank you for attending!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64749-6EB1-207F-921D-CF88F5EBE3A0}"/>
              </a:ext>
            </a:extLst>
          </p:cNvPr>
          <p:cNvSpPr txBox="1"/>
          <p:nvPr/>
        </p:nvSpPr>
        <p:spPr>
          <a:xfrm>
            <a:off x="462775" y="2375212"/>
            <a:ext cx="8218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000" i="1" dirty="0"/>
              <a:t>Let us know what you think!</a:t>
            </a:r>
            <a:endParaRPr lang="en-US" sz="2000" i="1" dirty="0"/>
          </a:p>
        </p:txBody>
      </p:sp>
      <p:pic>
        <p:nvPicPr>
          <p:cNvPr id="4" name="Picture 3" descr="Image">
            <a:extLst>
              <a:ext uri="{FF2B5EF4-FFF2-40B4-BE49-F238E27FC236}">
                <a16:creationId xmlns:a16="http://schemas.microsoft.com/office/drawing/2014/main" id="{E7503D75-4639-F8A0-1A37-2E1B31CAC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432" y="3058400"/>
            <a:ext cx="3479134" cy="3479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61918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10454</TotalTime>
  <Words>2435</Words>
  <Application>Microsoft Office PowerPoint</Application>
  <PresentationFormat>On-screen Show (4:3)</PresentationFormat>
  <Paragraphs>383</Paragraphs>
  <Slides>58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71" baseType="lpstr">
      <vt:lpstr>SimSun</vt:lpstr>
      <vt:lpstr>-apple-system</vt:lpstr>
      <vt:lpstr>Arial</vt:lpstr>
      <vt:lpstr>Calibri</vt:lpstr>
      <vt:lpstr>Calibri Light</vt:lpstr>
      <vt:lpstr>Helvetica</vt:lpstr>
      <vt:lpstr>Helvetica Light</vt:lpstr>
      <vt:lpstr>lato</vt:lpstr>
      <vt:lpstr>Open Sans Light</vt:lpstr>
      <vt:lpstr>SFMono-Regular</vt:lpstr>
      <vt:lpstr>Source Sans Pro</vt:lpstr>
      <vt:lpstr>-webkit-standard</vt:lpstr>
      <vt:lpstr>Thème Office</vt:lpstr>
      <vt:lpstr>Data Visualization in R</vt:lpstr>
      <vt:lpstr>PowerPoint Presentation</vt:lpstr>
      <vt:lpstr>Goals</vt:lpstr>
      <vt:lpstr>Outline</vt:lpstr>
      <vt:lpstr>Why Use ggplot2 Over Base R for Data Visualization?</vt:lpstr>
      <vt:lpstr>Overview of ggplot2</vt:lpstr>
      <vt:lpstr>Structure of the ggplot2 command</vt:lpstr>
      <vt:lpstr>Dataset preparation</vt:lpstr>
      <vt:lpstr>Bar plot</vt:lpstr>
      <vt:lpstr>Histogram/ Frequency/ Density Plot</vt:lpstr>
      <vt:lpstr>Box plot</vt:lpstr>
      <vt:lpstr>Violin plot</vt:lpstr>
      <vt:lpstr>What questions do you have about this plot?</vt:lpstr>
      <vt:lpstr>Next step: box/violin plot to show the distribution</vt:lpstr>
      <vt:lpstr>PowerPoint Presentation</vt:lpstr>
      <vt:lpstr>PowerPoint Presentation</vt:lpstr>
      <vt:lpstr>Before and after 💅🏽</vt:lpstr>
      <vt:lpstr>Data Transformation and Advanced Customization</vt:lpstr>
      <vt:lpstr>Data Transformation</vt:lpstr>
      <vt:lpstr>Data Transformation – log transformation</vt:lpstr>
      <vt:lpstr>Data faceting</vt:lpstr>
      <vt:lpstr>Aesthetic customizations – color palettes</vt:lpstr>
      <vt:lpstr>Colorblindness-friendly palettes</vt:lpstr>
      <vt:lpstr>How to use colorspace in ggplot2</vt:lpstr>
      <vt:lpstr>Colorspace examples</vt:lpstr>
      <vt:lpstr>How to choose diverging and sequential color scales?</vt:lpstr>
      <vt:lpstr>Select the appropriate color palettes for heatmaps</vt:lpstr>
      <vt:lpstr>How to change size of points and transparency</vt:lpstr>
      <vt:lpstr>Adjust the appearance of the legend</vt:lpstr>
      <vt:lpstr>Generate different legends for different layers</vt:lpstr>
      <vt:lpstr>Delete the legend</vt:lpstr>
      <vt:lpstr>Merge the legend</vt:lpstr>
      <vt:lpstr>Theme</vt:lpstr>
      <vt:lpstr>Exercise 1 (10 mins)</vt:lpstr>
      <vt:lpstr>Specialized Plots</vt:lpstr>
      <vt:lpstr>Heatmap</vt:lpstr>
      <vt:lpstr>Kaplan-Meier curve</vt:lpstr>
      <vt:lpstr>Manhattan plot</vt:lpstr>
      <vt:lpstr>2D density plot</vt:lpstr>
      <vt:lpstr>Interactive Plots</vt:lpstr>
      <vt:lpstr>PowerPoint Presentation</vt:lpstr>
      <vt:lpstr>Check the data</vt:lpstr>
      <vt:lpstr>Try ggplotly!</vt:lpstr>
      <vt:lpstr>Customize tooltip</vt:lpstr>
      <vt:lpstr>More advanced customization</vt:lpstr>
      <vt:lpstr>Animate your figure</vt:lpstr>
      <vt:lpstr>R Shiny Dashboard</vt:lpstr>
      <vt:lpstr>Let’s first see an example of R shiny dashboard to analyze Omics Data - GraphBio</vt:lpstr>
      <vt:lpstr>Skeleton of R Shiny</vt:lpstr>
      <vt:lpstr>Layout options: Layout/Panel</vt:lpstr>
      <vt:lpstr>Placeholders</vt:lpstr>
      <vt:lpstr>Control Widgets</vt:lpstr>
      <vt:lpstr>Let’s work on a simple R shiny demo!</vt:lpstr>
      <vt:lpstr>How to arrange shiny in multiple pages</vt:lpstr>
      <vt:lpstr>Exercise 2 (15 mins)</vt:lpstr>
      <vt:lpstr>Friends don’t let friends make bad graphs</vt:lpstr>
      <vt:lpstr>Useful resources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Rachade Hmamouchi</dc:creator>
  <cp:lastModifiedBy>Meghana Munipalle</cp:lastModifiedBy>
  <cp:revision>41</cp:revision>
  <dcterms:created xsi:type="dcterms:W3CDTF">2019-07-29T14:54:16Z</dcterms:created>
  <dcterms:modified xsi:type="dcterms:W3CDTF">2026-10-22T20:11:48Z</dcterms:modified>
</cp:coreProperties>
</file>